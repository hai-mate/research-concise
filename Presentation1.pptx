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70" r:id="rId5"/>
    <p:sldId id="269" r:id="rId6"/>
    <p:sldId id="267"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75"/>
    <p:restoredTop sz="90922"/>
  </p:normalViewPr>
  <p:slideViewPr>
    <p:cSldViewPr snapToGrid="0" showGuides="1">
      <p:cViewPr>
        <p:scale>
          <a:sx n="81" d="100"/>
          <a:sy n="81" d="100"/>
        </p:scale>
        <p:origin x="1664" y="7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dk2">
        <a:alpha val="0"/>
      </a:schemeClr>
    </dgm:fillClrLst>
    <dgm:linClrLst meth="repeat">
      <a:schemeClr val="dk2">
        <a:alpha val="0"/>
      </a:schemeClr>
    </dgm:linClrLst>
    <dgm:effectClrLst/>
    <dgm:txLinClrLst/>
    <dgm:txFillClrLst meth="repeat">
      <a:schemeClr val="dk2"/>
    </dgm:txFillClrLst>
    <dgm:txEffectClrLst/>
  </dgm:styleLbl>
</dgm:colorsDef>
</file>

<file path=ppt/diagrams/data1.xml><?xml version="1.0" encoding="utf-8"?>
<dgm:dataModel xmlns:dgm="http://schemas.openxmlformats.org/drawingml/2006/diagram" xmlns:a="http://schemas.openxmlformats.org/drawingml/2006/main">
  <dgm:ptLst>
    <dgm:pt modelId="{51141DA9-876F-48E5-85D9-E8032A682CF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536EFA4-9ACC-426D-B1B4-0CD774846243}">
      <dgm:prSet/>
      <dgm:spPr/>
      <dgm:t>
        <a:bodyPr/>
        <a:lstStyle/>
        <a:p>
          <a:pPr>
            <a:lnSpc>
              <a:spcPct val="100000"/>
            </a:lnSpc>
          </a:pPr>
          <a:r>
            <a:rPr lang="en-US" b="1" dirty="0"/>
            <a:t>Save Time:</a:t>
          </a:r>
          <a:r>
            <a:rPr lang="en-US" dirty="0"/>
            <a:t> In a survey, 80% users report saving </a:t>
          </a:r>
          <a:r>
            <a:rPr lang="en-US" b="1" dirty="0"/>
            <a:t>10 or more hours every week</a:t>
          </a:r>
          <a:r>
            <a:rPr lang="en-US" dirty="0"/>
            <a:t> using our intelligent automation</a:t>
          </a:r>
        </a:p>
      </dgm:t>
    </dgm:pt>
    <dgm:pt modelId="{74126675-26C6-4790-95CB-08682856A4B3}" type="parTrans" cxnId="{9D8AF30E-20BA-4B3C-A5AA-213BFEC62755}">
      <dgm:prSet/>
      <dgm:spPr/>
      <dgm:t>
        <a:bodyPr/>
        <a:lstStyle/>
        <a:p>
          <a:endParaRPr lang="en-US"/>
        </a:p>
      </dgm:t>
    </dgm:pt>
    <dgm:pt modelId="{8CFA7C3A-01F0-4D0E-967F-B1C7B5B8A77C}" type="sibTrans" cxnId="{9D8AF30E-20BA-4B3C-A5AA-213BFEC62755}">
      <dgm:prSet/>
      <dgm:spPr/>
      <dgm:t>
        <a:bodyPr/>
        <a:lstStyle/>
        <a:p>
          <a:endParaRPr lang="en-US"/>
        </a:p>
      </dgm:t>
    </dgm:pt>
    <dgm:pt modelId="{810D296C-4DAF-4208-B9C0-7871330FBF23}">
      <dgm:prSet/>
      <dgm:spPr/>
      <dgm:t>
        <a:bodyPr/>
        <a:lstStyle/>
        <a:p>
          <a:pPr>
            <a:lnSpc>
              <a:spcPct val="100000"/>
            </a:lnSpc>
          </a:pPr>
          <a:r>
            <a:rPr lang="en-US" b="1"/>
            <a:t>Cut Costs:</a:t>
          </a:r>
          <a:r>
            <a:rPr lang="en-US"/>
            <a:t> Pilot studies show research teams reduce </a:t>
          </a:r>
          <a:r>
            <a:rPr lang="en-US" b="1"/>
            <a:t>manual data extraction time and costs by over 50%</a:t>
          </a:r>
          <a:endParaRPr lang="en-US"/>
        </a:p>
      </dgm:t>
    </dgm:pt>
    <dgm:pt modelId="{41C4E492-4075-4921-9ED4-7C04201DEF23}" type="parTrans" cxnId="{501A080F-5101-456B-AC17-6EA8C7B67BA2}">
      <dgm:prSet/>
      <dgm:spPr/>
      <dgm:t>
        <a:bodyPr/>
        <a:lstStyle/>
        <a:p>
          <a:endParaRPr lang="en-US"/>
        </a:p>
      </dgm:t>
    </dgm:pt>
    <dgm:pt modelId="{204CA51B-C258-4BA3-A47B-F8A3481B0F4D}" type="sibTrans" cxnId="{501A080F-5101-456B-AC17-6EA8C7B67BA2}">
      <dgm:prSet/>
      <dgm:spPr/>
      <dgm:t>
        <a:bodyPr/>
        <a:lstStyle/>
        <a:p>
          <a:endParaRPr lang="en-US"/>
        </a:p>
      </dgm:t>
    </dgm:pt>
    <dgm:pt modelId="{0278119C-8CFB-5D43-B70F-44C97CCC33CD}">
      <dgm:prSet/>
      <dgm:spPr/>
      <dgm:t>
        <a:bodyPr/>
        <a:lstStyle/>
        <a:p>
          <a:pPr>
            <a:lnSpc>
              <a:spcPct val="100000"/>
            </a:lnSpc>
          </a:pPr>
          <a:r>
            <a:rPr lang="en-GB" dirty="0"/>
            <a:t>Instantly query </a:t>
          </a:r>
          <a:r>
            <a:rPr lang="en-GB" b="1" dirty="0"/>
            <a:t>125+ million academic papers</a:t>
          </a:r>
          <a:r>
            <a:rPr lang="en-GB" dirty="0"/>
            <a:t> using LLM</a:t>
          </a:r>
        </a:p>
      </dgm:t>
    </dgm:pt>
    <dgm:pt modelId="{A0D0B052-805F-6449-B05C-A754B0A58E6E}" type="parTrans" cxnId="{3CFA159C-440D-0D46-AA0A-57B47CF529C8}">
      <dgm:prSet/>
      <dgm:spPr/>
      <dgm:t>
        <a:bodyPr/>
        <a:lstStyle/>
        <a:p>
          <a:endParaRPr lang="en-GB"/>
        </a:p>
      </dgm:t>
    </dgm:pt>
    <dgm:pt modelId="{9C1164E5-7AEE-4A49-91F2-795FCC98FA02}" type="sibTrans" cxnId="{3CFA159C-440D-0D46-AA0A-57B47CF529C8}">
      <dgm:prSet/>
      <dgm:spPr/>
      <dgm:t>
        <a:bodyPr/>
        <a:lstStyle/>
        <a:p>
          <a:endParaRPr lang="en-GB"/>
        </a:p>
      </dgm:t>
    </dgm:pt>
    <dgm:pt modelId="{8ADF1041-C60D-49E4-BC1D-D432C48BBE65}" type="pres">
      <dgm:prSet presAssocID="{51141DA9-876F-48E5-85D9-E8032A682CF6}" presName="root" presStyleCnt="0">
        <dgm:presLayoutVars>
          <dgm:dir/>
          <dgm:resizeHandles val="exact"/>
        </dgm:presLayoutVars>
      </dgm:prSet>
      <dgm:spPr/>
    </dgm:pt>
    <dgm:pt modelId="{3F0C0785-EEC8-4CCF-957E-F3EE82FEFF50}" type="pres">
      <dgm:prSet presAssocID="{A536EFA4-9ACC-426D-B1B4-0CD774846243}" presName="compNode" presStyleCnt="0"/>
      <dgm:spPr/>
    </dgm:pt>
    <dgm:pt modelId="{22E0E0EF-9642-4632-885C-8FE2BE65A615}" type="pres">
      <dgm:prSet presAssocID="{A536EFA4-9ACC-426D-B1B4-0CD77484624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041B9C1A-B0A4-4591-96E6-66B2D4F963C5}" type="pres">
      <dgm:prSet presAssocID="{A536EFA4-9ACC-426D-B1B4-0CD774846243}" presName="spaceRect" presStyleCnt="0"/>
      <dgm:spPr/>
    </dgm:pt>
    <dgm:pt modelId="{5B56B5EF-07C4-4412-8A15-DF2825121249}" type="pres">
      <dgm:prSet presAssocID="{A536EFA4-9ACC-426D-B1B4-0CD774846243}" presName="textRect" presStyleLbl="revTx" presStyleIdx="0" presStyleCnt="3">
        <dgm:presLayoutVars>
          <dgm:chMax val="1"/>
          <dgm:chPref val="1"/>
        </dgm:presLayoutVars>
      </dgm:prSet>
      <dgm:spPr/>
    </dgm:pt>
    <dgm:pt modelId="{98AE028A-6FCD-4FE5-B9CC-8FAFD4958D35}" type="pres">
      <dgm:prSet presAssocID="{8CFA7C3A-01F0-4D0E-967F-B1C7B5B8A77C}" presName="sibTrans" presStyleCnt="0"/>
      <dgm:spPr/>
    </dgm:pt>
    <dgm:pt modelId="{C0A5A2C3-3C89-8943-9B1D-1FE4F302C3B9}" type="pres">
      <dgm:prSet presAssocID="{0278119C-8CFB-5D43-B70F-44C97CCC33CD}" presName="compNode" presStyleCnt="0"/>
      <dgm:spPr/>
    </dgm:pt>
    <dgm:pt modelId="{FDC6A83B-C127-A844-88C7-31E1918441BA}" type="pres">
      <dgm:prSet presAssocID="{0278119C-8CFB-5D43-B70F-44C97CCC33CD}" presName="iconRect" presStyleLbl="node1" presStyleIdx="1" presStyleCnt="3"/>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pt>
    <dgm:pt modelId="{7A9AB6B3-91A3-AE43-AD8C-E0EA91CE26FB}" type="pres">
      <dgm:prSet presAssocID="{0278119C-8CFB-5D43-B70F-44C97CCC33CD}" presName="spaceRect" presStyleCnt="0"/>
      <dgm:spPr/>
    </dgm:pt>
    <dgm:pt modelId="{EC18EAA7-C374-EA49-BC35-C330A863056F}" type="pres">
      <dgm:prSet presAssocID="{0278119C-8CFB-5D43-B70F-44C97CCC33CD}" presName="textRect" presStyleLbl="revTx" presStyleIdx="1" presStyleCnt="3">
        <dgm:presLayoutVars>
          <dgm:chMax val="1"/>
          <dgm:chPref val="1"/>
        </dgm:presLayoutVars>
      </dgm:prSet>
      <dgm:spPr/>
    </dgm:pt>
    <dgm:pt modelId="{68FD561C-6779-8541-8706-380C586F2B38}" type="pres">
      <dgm:prSet presAssocID="{9C1164E5-7AEE-4A49-91F2-795FCC98FA02}" presName="sibTrans" presStyleCnt="0"/>
      <dgm:spPr/>
    </dgm:pt>
    <dgm:pt modelId="{1E8BE9D6-1EE7-402C-B99E-62CF3D28E263}" type="pres">
      <dgm:prSet presAssocID="{810D296C-4DAF-4208-B9C0-7871330FBF23}" presName="compNode" presStyleCnt="0"/>
      <dgm:spPr/>
    </dgm:pt>
    <dgm:pt modelId="{82C82C60-3FB5-4B9A-9B51-D1DD9B2DA215}" type="pres">
      <dgm:prSet presAssocID="{810D296C-4DAF-4208-B9C0-7871330FBF23}" presName="icon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41FC3994-F687-4F5C-A27F-1952ECD39D86}" type="pres">
      <dgm:prSet presAssocID="{810D296C-4DAF-4208-B9C0-7871330FBF23}" presName="spaceRect" presStyleCnt="0"/>
      <dgm:spPr/>
    </dgm:pt>
    <dgm:pt modelId="{D6B06AE6-6D99-4419-A38A-E7FCBF859851}" type="pres">
      <dgm:prSet presAssocID="{810D296C-4DAF-4208-B9C0-7871330FBF23}" presName="textRect" presStyleLbl="revTx" presStyleIdx="2" presStyleCnt="3">
        <dgm:presLayoutVars>
          <dgm:chMax val="1"/>
          <dgm:chPref val="1"/>
        </dgm:presLayoutVars>
      </dgm:prSet>
      <dgm:spPr/>
    </dgm:pt>
  </dgm:ptLst>
  <dgm:cxnLst>
    <dgm:cxn modelId="{9D8AF30E-20BA-4B3C-A5AA-213BFEC62755}" srcId="{51141DA9-876F-48E5-85D9-E8032A682CF6}" destId="{A536EFA4-9ACC-426D-B1B4-0CD774846243}" srcOrd="0" destOrd="0" parTransId="{74126675-26C6-4790-95CB-08682856A4B3}" sibTransId="{8CFA7C3A-01F0-4D0E-967F-B1C7B5B8A77C}"/>
    <dgm:cxn modelId="{501A080F-5101-456B-AC17-6EA8C7B67BA2}" srcId="{51141DA9-876F-48E5-85D9-E8032A682CF6}" destId="{810D296C-4DAF-4208-B9C0-7871330FBF23}" srcOrd="2" destOrd="0" parTransId="{41C4E492-4075-4921-9ED4-7C04201DEF23}" sibTransId="{204CA51B-C258-4BA3-A47B-F8A3481B0F4D}"/>
    <dgm:cxn modelId="{73F0512F-77CF-4641-A49D-40C35C7C1A0A}" type="presOf" srcId="{0278119C-8CFB-5D43-B70F-44C97CCC33CD}" destId="{EC18EAA7-C374-EA49-BC35-C330A863056F}" srcOrd="0" destOrd="0" presId="urn:microsoft.com/office/officeart/2018/2/layout/IconLabelList"/>
    <dgm:cxn modelId="{6214A580-60C7-407B-86A0-F2E397F0278E}" type="presOf" srcId="{51141DA9-876F-48E5-85D9-E8032A682CF6}" destId="{8ADF1041-C60D-49E4-BC1D-D432C48BBE65}" srcOrd="0" destOrd="0" presId="urn:microsoft.com/office/officeart/2018/2/layout/IconLabelList"/>
    <dgm:cxn modelId="{3CFA159C-440D-0D46-AA0A-57B47CF529C8}" srcId="{51141DA9-876F-48E5-85D9-E8032A682CF6}" destId="{0278119C-8CFB-5D43-B70F-44C97CCC33CD}" srcOrd="1" destOrd="0" parTransId="{A0D0B052-805F-6449-B05C-A754B0A58E6E}" sibTransId="{9C1164E5-7AEE-4A49-91F2-795FCC98FA02}"/>
    <dgm:cxn modelId="{28AE5AA9-F458-4E9C-8C42-85D5D5F574AC}" type="presOf" srcId="{A536EFA4-9ACC-426D-B1B4-0CD774846243}" destId="{5B56B5EF-07C4-4412-8A15-DF2825121249}" srcOrd="0" destOrd="0" presId="urn:microsoft.com/office/officeart/2018/2/layout/IconLabelList"/>
    <dgm:cxn modelId="{E9716DAC-F486-46C6-BAC1-D0DCF90A5659}" type="presOf" srcId="{810D296C-4DAF-4208-B9C0-7871330FBF23}" destId="{D6B06AE6-6D99-4419-A38A-E7FCBF859851}" srcOrd="0" destOrd="0" presId="urn:microsoft.com/office/officeart/2018/2/layout/IconLabelList"/>
    <dgm:cxn modelId="{1DEAC96C-B1A7-4CB8-AA9B-E44A74E5BABE}" type="presParOf" srcId="{8ADF1041-C60D-49E4-BC1D-D432C48BBE65}" destId="{3F0C0785-EEC8-4CCF-957E-F3EE82FEFF50}" srcOrd="0" destOrd="0" presId="urn:microsoft.com/office/officeart/2018/2/layout/IconLabelList"/>
    <dgm:cxn modelId="{67CB042A-585A-4566-81E6-1DC6B442D4EB}" type="presParOf" srcId="{3F0C0785-EEC8-4CCF-957E-F3EE82FEFF50}" destId="{22E0E0EF-9642-4632-885C-8FE2BE65A615}" srcOrd="0" destOrd="0" presId="urn:microsoft.com/office/officeart/2018/2/layout/IconLabelList"/>
    <dgm:cxn modelId="{02CFF261-17E7-4EDD-8C13-8E2AE5A864A1}" type="presParOf" srcId="{3F0C0785-EEC8-4CCF-957E-F3EE82FEFF50}" destId="{041B9C1A-B0A4-4591-96E6-66B2D4F963C5}" srcOrd="1" destOrd="0" presId="urn:microsoft.com/office/officeart/2018/2/layout/IconLabelList"/>
    <dgm:cxn modelId="{64AD7556-B52F-4DEA-854F-4B216961A645}" type="presParOf" srcId="{3F0C0785-EEC8-4CCF-957E-F3EE82FEFF50}" destId="{5B56B5EF-07C4-4412-8A15-DF2825121249}" srcOrd="2" destOrd="0" presId="urn:microsoft.com/office/officeart/2018/2/layout/IconLabelList"/>
    <dgm:cxn modelId="{7EEC64B0-E7E4-40BF-9CDC-99E44602FA8D}" type="presParOf" srcId="{8ADF1041-C60D-49E4-BC1D-D432C48BBE65}" destId="{98AE028A-6FCD-4FE5-B9CC-8FAFD4958D35}" srcOrd="1" destOrd="0" presId="urn:microsoft.com/office/officeart/2018/2/layout/IconLabelList"/>
    <dgm:cxn modelId="{C2CB1220-5ACA-3F42-9930-A5664D38AB36}" type="presParOf" srcId="{8ADF1041-C60D-49E4-BC1D-D432C48BBE65}" destId="{C0A5A2C3-3C89-8943-9B1D-1FE4F302C3B9}" srcOrd="2" destOrd="0" presId="urn:microsoft.com/office/officeart/2018/2/layout/IconLabelList"/>
    <dgm:cxn modelId="{A6ACBC5F-821F-AA41-9A53-45D1127689A4}" type="presParOf" srcId="{C0A5A2C3-3C89-8943-9B1D-1FE4F302C3B9}" destId="{FDC6A83B-C127-A844-88C7-31E1918441BA}" srcOrd="0" destOrd="0" presId="urn:microsoft.com/office/officeart/2018/2/layout/IconLabelList"/>
    <dgm:cxn modelId="{AB051C3F-424C-3749-AEB2-0E6449E9B2F8}" type="presParOf" srcId="{C0A5A2C3-3C89-8943-9B1D-1FE4F302C3B9}" destId="{7A9AB6B3-91A3-AE43-AD8C-E0EA91CE26FB}" srcOrd="1" destOrd="0" presId="urn:microsoft.com/office/officeart/2018/2/layout/IconLabelList"/>
    <dgm:cxn modelId="{2DD76968-6928-DD4C-8636-F8A62745B32C}" type="presParOf" srcId="{C0A5A2C3-3C89-8943-9B1D-1FE4F302C3B9}" destId="{EC18EAA7-C374-EA49-BC35-C330A863056F}" srcOrd="2" destOrd="0" presId="urn:microsoft.com/office/officeart/2018/2/layout/IconLabelList"/>
    <dgm:cxn modelId="{7AFA5A18-CCA1-4343-B845-3A23F41CA861}" type="presParOf" srcId="{8ADF1041-C60D-49E4-BC1D-D432C48BBE65}" destId="{68FD561C-6779-8541-8706-380C586F2B38}" srcOrd="3" destOrd="0" presId="urn:microsoft.com/office/officeart/2018/2/layout/IconLabelList"/>
    <dgm:cxn modelId="{EC7F9947-0FF8-4C05-BEAE-10C18D0E3F03}" type="presParOf" srcId="{8ADF1041-C60D-49E4-BC1D-D432C48BBE65}" destId="{1E8BE9D6-1EE7-402C-B99E-62CF3D28E263}" srcOrd="4" destOrd="0" presId="urn:microsoft.com/office/officeart/2018/2/layout/IconLabelList"/>
    <dgm:cxn modelId="{93EC57D3-BC78-4418-BD7B-C94125F3B0F4}" type="presParOf" srcId="{1E8BE9D6-1EE7-402C-B99E-62CF3D28E263}" destId="{82C82C60-3FB5-4B9A-9B51-D1DD9B2DA215}" srcOrd="0" destOrd="0" presId="urn:microsoft.com/office/officeart/2018/2/layout/IconLabelList"/>
    <dgm:cxn modelId="{049957AD-925D-48A9-B8EC-0B47EC069034}" type="presParOf" srcId="{1E8BE9D6-1EE7-402C-B99E-62CF3D28E263}" destId="{41FC3994-F687-4F5C-A27F-1952ECD39D86}" srcOrd="1" destOrd="0" presId="urn:microsoft.com/office/officeart/2018/2/layout/IconLabelList"/>
    <dgm:cxn modelId="{0EA273E4-D594-4009-A694-C2919281A8BA}" type="presParOf" srcId="{1E8BE9D6-1EE7-402C-B99E-62CF3D28E263}" destId="{D6B06AE6-6D99-4419-A38A-E7FCBF859851}"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5014BE-3569-4C2D-BB86-6D0F9BC36274}" type="doc">
      <dgm:prSet loTypeId="urn:microsoft.com/office/officeart/2018/2/layout/IconCircleList" loCatId="icon" qsTypeId="urn:microsoft.com/office/officeart/2005/8/quickstyle/simple1" qsCatId="simple" csTypeId="urn:microsoft.com/office/officeart/2018/5/colors/Iconchunking_coloredtext_accent0_3" csCatId="mainScheme" phldr="1"/>
      <dgm:spPr/>
      <dgm:t>
        <a:bodyPr/>
        <a:lstStyle/>
        <a:p>
          <a:endParaRPr lang="en-US"/>
        </a:p>
      </dgm:t>
    </dgm:pt>
    <dgm:pt modelId="{2F147E11-719B-48EB-91CC-779672B58784}">
      <dgm:prSet custT="1"/>
      <dgm:spPr/>
      <dgm:t>
        <a:bodyPr/>
        <a:lstStyle/>
        <a:p>
          <a:pPr>
            <a:lnSpc>
              <a:spcPct val="100000"/>
            </a:lnSpc>
          </a:pPr>
          <a:r>
            <a:rPr lang="en-US" sz="1800" b="1" dirty="0">
              <a:solidFill>
                <a:schemeClr val="bg1"/>
              </a:solidFill>
            </a:rPr>
            <a:t>Save Time:</a:t>
          </a:r>
          <a:r>
            <a:rPr lang="en-US" sz="1800" dirty="0">
              <a:solidFill>
                <a:schemeClr val="bg1"/>
              </a:solidFill>
            </a:rPr>
            <a:t> In a survey, 80% users report saving </a:t>
          </a:r>
          <a:r>
            <a:rPr lang="en-US" sz="1800" b="1" dirty="0">
              <a:solidFill>
                <a:schemeClr val="bg1"/>
              </a:solidFill>
            </a:rPr>
            <a:t>10 or more hours every week</a:t>
          </a:r>
          <a:r>
            <a:rPr lang="en-US" sz="1800" dirty="0">
              <a:solidFill>
                <a:schemeClr val="bg1"/>
              </a:solidFill>
            </a:rPr>
            <a:t> using our intelligent automation</a:t>
          </a:r>
        </a:p>
      </dgm:t>
    </dgm:pt>
    <dgm:pt modelId="{8AF95B41-C506-4306-A4EC-3A8828D8D11A}" type="parTrans" cxnId="{698B48FD-A5D1-4F6B-BAD7-D9BBBAF6407A}">
      <dgm:prSet/>
      <dgm:spPr/>
      <dgm:t>
        <a:bodyPr/>
        <a:lstStyle/>
        <a:p>
          <a:endParaRPr lang="en-US" sz="2400"/>
        </a:p>
      </dgm:t>
    </dgm:pt>
    <dgm:pt modelId="{A65F56EA-558B-4B93-8AF6-175A6A1C751C}" type="sibTrans" cxnId="{698B48FD-A5D1-4F6B-BAD7-D9BBBAF6407A}">
      <dgm:prSet/>
      <dgm:spPr/>
      <dgm:t>
        <a:bodyPr/>
        <a:lstStyle/>
        <a:p>
          <a:pPr>
            <a:lnSpc>
              <a:spcPct val="100000"/>
            </a:lnSpc>
          </a:pPr>
          <a:endParaRPr lang="en-US" sz="2400"/>
        </a:p>
      </dgm:t>
    </dgm:pt>
    <dgm:pt modelId="{0CB94B88-BCB1-44CF-8323-0F737EC502BF}">
      <dgm:prSet custT="1"/>
      <dgm:spPr/>
      <dgm:t>
        <a:bodyPr/>
        <a:lstStyle/>
        <a:p>
          <a:pPr>
            <a:lnSpc>
              <a:spcPct val="100000"/>
            </a:lnSpc>
          </a:pPr>
          <a:r>
            <a:rPr lang="en-US" sz="1800" b="1" dirty="0">
              <a:solidFill>
                <a:schemeClr val="bg1"/>
              </a:solidFill>
            </a:rPr>
            <a:t>Cut Costs:</a:t>
          </a:r>
          <a:r>
            <a:rPr lang="en-US" sz="1800" dirty="0">
              <a:solidFill>
                <a:schemeClr val="bg1"/>
              </a:solidFill>
            </a:rPr>
            <a:t> Our tool cut </a:t>
          </a:r>
          <a:r>
            <a:rPr lang="en-US" sz="1800" b="1" dirty="0">
              <a:solidFill>
                <a:schemeClr val="bg1"/>
              </a:solidFill>
            </a:rPr>
            <a:t>manual research time and costs in half </a:t>
          </a:r>
          <a:r>
            <a:rPr lang="en-US" sz="1800" b="0" dirty="0">
              <a:solidFill>
                <a:schemeClr val="bg1"/>
              </a:solidFill>
            </a:rPr>
            <a:t>in pilot deployment</a:t>
          </a:r>
          <a:endParaRPr lang="en-GB" sz="1800" dirty="0">
            <a:solidFill>
              <a:schemeClr val="bg1"/>
            </a:solidFill>
          </a:endParaRPr>
        </a:p>
      </dgm:t>
    </dgm:pt>
    <dgm:pt modelId="{70E5BDB8-D641-48A0-914F-2A67F6A649C7}" type="parTrans" cxnId="{3039DD78-CB49-4ED2-B426-10EBC5F0067A}">
      <dgm:prSet/>
      <dgm:spPr/>
      <dgm:t>
        <a:bodyPr/>
        <a:lstStyle/>
        <a:p>
          <a:endParaRPr lang="en-US" sz="2400"/>
        </a:p>
      </dgm:t>
    </dgm:pt>
    <dgm:pt modelId="{05785E47-A546-41E5-8E00-FF7DDB880458}" type="sibTrans" cxnId="{3039DD78-CB49-4ED2-B426-10EBC5F0067A}">
      <dgm:prSet/>
      <dgm:spPr/>
      <dgm:t>
        <a:bodyPr/>
        <a:lstStyle/>
        <a:p>
          <a:pPr>
            <a:lnSpc>
              <a:spcPct val="100000"/>
            </a:lnSpc>
          </a:pPr>
          <a:endParaRPr lang="en-US" sz="2400"/>
        </a:p>
      </dgm:t>
    </dgm:pt>
    <dgm:pt modelId="{EC723CCF-AC2B-4197-9193-0C88D470A466}" type="pres">
      <dgm:prSet presAssocID="{135014BE-3569-4C2D-BB86-6D0F9BC36274}" presName="root" presStyleCnt="0">
        <dgm:presLayoutVars>
          <dgm:dir/>
          <dgm:resizeHandles val="exact"/>
        </dgm:presLayoutVars>
      </dgm:prSet>
      <dgm:spPr/>
    </dgm:pt>
    <dgm:pt modelId="{D229963A-DF62-4747-8468-66BBBEC6F875}" type="pres">
      <dgm:prSet presAssocID="{135014BE-3569-4C2D-BB86-6D0F9BC36274}" presName="container" presStyleCnt="0">
        <dgm:presLayoutVars>
          <dgm:dir/>
          <dgm:resizeHandles val="exact"/>
        </dgm:presLayoutVars>
      </dgm:prSet>
      <dgm:spPr/>
    </dgm:pt>
    <dgm:pt modelId="{AAE2913C-AD24-4EFA-B9A5-145756C44E44}" type="pres">
      <dgm:prSet presAssocID="{2F147E11-719B-48EB-91CC-779672B58784}" presName="compNode" presStyleCnt="0"/>
      <dgm:spPr/>
    </dgm:pt>
    <dgm:pt modelId="{7DD4BCC7-A303-474B-BAF8-D820C4E990D1}" type="pres">
      <dgm:prSet presAssocID="{2F147E11-719B-48EB-91CC-779672B58784}" presName="iconBgRect" presStyleLbl="bgShp" presStyleIdx="0" presStyleCnt="2"/>
      <dgm:spPr/>
    </dgm:pt>
    <dgm:pt modelId="{68F2FD6A-A2DC-47C3-B6C2-D2B0570929F4}" type="pres">
      <dgm:prSet presAssocID="{2F147E11-719B-48EB-91CC-779672B5878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0CCD6D09-22EA-439A-BC55-BA6B759E00F7}" type="pres">
      <dgm:prSet presAssocID="{2F147E11-719B-48EB-91CC-779672B58784}" presName="spaceRect" presStyleCnt="0"/>
      <dgm:spPr/>
    </dgm:pt>
    <dgm:pt modelId="{D97FD663-E773-4E3B-A096-50899ECBCA92}" type="pres">
      <dgm:prSet presAssocID="{2F147E11-719B-48EB-91CC-779672B58784}" presName="textRect" presStyleLbl="revTx" presStyleIdx="0" presStyleCnt="2">
        <dgm:presLayoutVars>
          <dgm:chMax val="1"/>
          <dgm:chPref val="1"/>
        </dgm:presLayoutVars>
      </dgm:prSet>
      <dgm:spPr/>
    </dgm:pt>
    <dgm:pt modelId="{A342B504-4942-46F7-9746-1929342F0FA9}" type="pres">
      <dgm:prSet presAssocID="{A65F56EA-558B-4B93-8AF6-175A6A1C751C}" presName="sibTrans" presStyleLbl="sibTrans2D1" presStyleIdx="0" presStyleCnt="0"/>
      <dgm:spPr/>
    </dgm:pt>
    <dgm:pt modelId="{0BED42B1-E730-47B3-A1B6-774117CAADDD}" type="pres">
      <dgm:prSet presAssocID="{0CB94B88-BCB1-44CF-8323-0F737EC502BF}" presName="compNode" presStyleCnt="0"/>
      <dgm:spPr/>
    </dgm:pt>
    <dgm:pt modelId="{94E57FB4-0F94-4365-8A74-90045FCCCC87}" type="pres">
      <dgm:prSet presAssocID="{0CB94B88-BCB1-44CF-8323-0F737EC502BF}" presName="iconBgRect" presStyleLbl="bgShp" presStyleIdx="1" presStyleCnt="2"/>
      <dgm:spPr/>
    </dgm:pt>
    <dgm:pt modelId="{C7A70E84-8A34-442D-8352-01DD1D89082C}" type="pres">
      <dgm:prSet presAssocID="{0CB94B88-BCB1-44CF-8323-0F737EC502B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6C4BFE2A-AEC3-451B-A2F3-8188043789AD}" type="pres">
      <dgm:prSet presAssocID="{0CB94B88-BCB1-44CF-8323-0F737EC502BF}" presName="spaceRect" presStyleCnt="0"/>
      <dgm:spPr/>
    </dgm:pt>
    <dgm:pt modelId="{5FD2218E-D283-43CE-B57E-6537A6F579DD}" type="pres">
      <dgm:prSet presAssocID="{0CB94B88-BCB1-44CF-8323-0F737EC502BF}" presName="textRect" presStyleLbl="revTx" presStyleIdx="1" presStyleCnt="2">
        <dgm:presLayoutVars>
          <dgm:chMax val="1"/>
          <dgm:chPref val="1"/>
        </dgm:presLayoutVars>
      </dgm:prSet>
      <dgm:spPr/>
    </dgm:pt>
  </dgm:ptLst>
  <dgm:cxnLst>
    <dgm:cxn modelId="{538E0C78-1C96-4671-84BE-3093A70C0FD1}" type="presOf" srcId="{2F147E11-719B-48EB-91CC-779672B58784}" destId="{D97FD663-E773-4E3B-A096-50899ECBCA92}" srcOrd="0" destOrd="0" presId="urn:microsoft.com/office/officeart/2018/2/layout/IconCircleList"/>
    <dgm:cxn modelId="{3039DD78-CB49-4ED2-B426-10EBC5F0067A}" srcId="{135014BE-3569-4C2D-BB86-6D0F9BC36274}" destId="{0CB94B88-BCB1-44CF-8323-0F737EC502BF}" srcOrd="1" destOrd="0" parTransId="{70E5BDB8-D641-48A0-914F-2A67F6A649C7}" sibTransId="{05785E47-A546-41E5-8E00-FF7DDB880458}"/>
    <dgm:cxn modelId="{7E134C92-F0A2-4D2F-A632-0650D621161D}" type="presOf" srcId="{0CB94B88-BCB1-44CF-8323-0F737EC502BF}" destId="{5FD2218E-D283-43CE-B57E-6537A6F579DD}" srcOrd="0" destOrd="0" presId="urn:microsoft.com/office/officeart/2018/2/layout/IconCircleList"/>
    <dgm:cxn modelId="{99D0A096-5AC6-42E5-A5CA-71C3A6CC065A}" type="presOf" srcId="{135014BE-3569-4C2D-BB86-6D0F9BC36274}" destId="{EC723CCF-AC2B-4197-9193-0C88D470A466}" srcOrd="0" destOrd="0" presId="urn:microsoft.com/office/officeart/2018/2/layout/IconCircleList"/>
    <dgm:cxn modelId="{18A72AC7-DB17-4629-8391-CA160C38B6A9}" type="presOf" srcId="{A65F56EA-558B-4B93-8AF6-175A6A1C751C}" destId="{A342B504-4942-46F7-9746-1929342F0FA9}" srcOrd="0" destOrd="0" presId="urn:microsoft.com/office/officeart/2018/2/layout/IconCircleList"/>
    <dgm:cxn modelId="{698B48FD-A5D1-4F6B-BAD7-D9BBBAF6407A}" srcId="{135014BE-3569-4C2D-BB86-6D0F9BC36274}" destId="{2F147E11-719B-48EB-91CC-779672B58784}" srcOrd="0" destOrd="0" parTransId="{8AF95B41-C506-4306-A4EC-3A8828D8D11A}" sibTransId="{A65F56EA-558B-4B93-8AF6-175A6A1C751C}"/>
    <dgm:cxn modelId="{E164DD6E-E19E-4C81-BEBA-FCB0FC4CAE33}" type="presParOf" srcId="{EC723CCF-AC2B-4197-9193-0C88D470A466}" destId="{D229963A-DF62-4747-8468-66BBBEC6F875}" srcOrd="0" destOrd="0" presId="urn:microsoft.com/office/officeart/2018/2/layout/IconCircleList"/>
    <dgm:cxn modelId="{A0F237FE-A451-48C1-BD35-78C8001D7FE4}" type="presParOf" srcId="{D229963A-DF62-4747-8468-66BBBEC6F875}" destId="{AAE2913C-AD24-4EFA-B9A5-145756C44E44}" srcOrd="0" destOrd="0" presId="urn:microsoft.com/office/officeart/2018/2/layout/IconCircleList"/>
    <dgm:cxn modelId="{97306E16-3715-469B-9DAB-65D96129F441}" type="presParOf" srcId="{AAE2913C-AD24-4EFA-B9A5-145756C44E44}" destId="{7DD4BCC7-A303-474B-BAF8-D820C4E990D1}" srcOrd="0" destOrd="0" presId="urn:microsoft.com/office/officeart/2018/2/layout/IconCircleList"/>
    <dgm:cxn modelId="{8615FE97-9051-4702-A5D2-8FA076C25594}" type="presParOf" srcId="{AAE2913C-AD24-4EFA-B9A5-145756C44E44}" destId="{68F2FD6A-A2DC-47C3-B6C2-D2B0570929F4}" srcOrd="1" destOrd="0" presId="urn:microsoft.com/office/officeart/2018/2/layout/IconCircleList"/>
    <dgm:cxn modelId="{295C5029-031B-4E77-B01E-966ED40B7058}" type="presParOf" srcId="{AAE2913C-AD24-4EFA-B9A5-145756C44E44}" destId="{0CCD6D09-22EA-439A-BC55-BA6B759E00F7}" srcOrd="2" destOrd="0" presId="urn:microsoft.com/office/officeart/2018/2/layout/IconCircleList"/>
    <dgm:cxn modelId="{40BB29E1-995A-4AE9-8D61-C1FF48B46ED2}" type="presParOf" srcId="{AAE2913C-AD24-4EFA-B9A5-145756C44E44}" destId="{D97FD663-E773-4E3B-A096-50899ECBCA92}" srcOrd="3" destOrd="0" presId="urn:microsoft.com/office/officeart/2018/2/layout/IconCircleList"/>
    <dgm:cxn modelId="{E770A415-41A1-4AFF-A84B-6E9A8626DBEA}" type="presParOf" srcId="{D229963A-DF62-4747-8468-66BBBEC6F875}" destId="{A342B504-4942-46F7-9746-1929342F0FA9}" srcOrd="1" destOrd="0" presId="urn:microsoft.com/office/officeart/2018/2/layout/IconCircleList"/>
    <dgm:cxn modelId="{81F81BF6-A1D7-4667-9B87-C834A5A0AD95}" type="presParOf" srcId="{D229963A-DF62-4747-8468-66BBBEC6F875}" destId="{0BED42B1-E730-47B3-A1B6-774117CAADDD}" srcOrd="2" destOrd="0" presId="urn:microsoft.com/office/officeart/2018/2/layout/IconCircleList"/>
    <dgm:cxn modelId="{FD3EE53A-E7F0-4CF7-8FF0-E7B634FDE6D9}" type="presParOf" srcId="{0BED42B1-E730-47B3-A1B6-774117CAADDD}" destId="{94E57FB4-0F94-4365-8A74-90045FCCCC87}" srcOrd="0" destOrd="0" presId="urn:microsoft.com/office/officeart/2018/2/layout/IconCircleList"/>
    <dgm:cxn modelId="{658B10B7-A354-4AC3-B86C-12BFE82B5F92}" type="presParOf" srcId="{0BED42B1-E730-47B3-A1B6-774117CAADDD}" destId="{C7A70E84-8A34-442D-8352-01DD1D89082C}" srcOrd="1" destOrd="0" presId="urn:microsoft.com/office/officeart/2018/2/layout/IconCircleList"/>
    <dgm:cxn modelId="{428ACBFC-96BB-4EDF-9A18-1F1A3B4F134A}" type="presParOf" srcId="{0BED42B1-E730-47B3-A1B6-774117CAADDD}" destId="{6C4BFE2A-AEC3-451B-A2F3-8188043789AD}" srcOrd="2" destOrd="0" presId="urn:microsoft.com/office/officeart/2018/2/layout/IconCircleList"/>
    <dgm:cxn modelId="{0A398776-3BEF-4BD7-9FF5-66A84237CAE1}" type="presParOf" srcId="{0BED42B1-E730-47B3-A1B6-774117CAADDD}" destId="{5FD2218E-D283-43CE-B57E-6537A6F579DD}"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E0E0EF-9642-4632-885C-8FE2BE65A615}">
      <dsp:nvSpPr>
        <dsp:cNvPr id="0" name=""/>
        <dsp:cNvSpPr/>
      </dsp:nvSpPr>
      <dsp:spPr>
        <a:xfrm>
          <a:off x="1212569" y="987197"/>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56B5EF-07C4-4412-8A15-DF2825121249}">
      <dsp:nvSpPr>
        <dsp:cNvPr id="0" name=""/>
        <dsp:cNvSpPr/>
      </dsp:nvSpPr>
      <dsp:spPr>
        <a:xfrm>
          <a:off x="417971"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1" kern="1200" dirty="0"/>
            <a:t>Save Time:</a:t>
          </a:r>
          <a:r>
            <a:rPr lang="en-US" sz="1300" kern="1200" dirty="0"/>
            <a:t> In a survey, 80% users report saving </a:t>
          </a:r>
          <a:r>
            <a:rPr lang="en-US" sz="1300" b="1" kern="1200" dirty="0"/>
            <a:t>10 or more hours every week</a:t>
          </a:r>
          <a:r>
            <a:rPr lang="en-US" sz="1300" kern="1200" dirty="0"/>
            <a:t> using our intelligent automation</a:t>
          </a:r>
        </a:p>
      </dsp:txBody>
      <dsp:txXfrm>
        <a:off x="417971" y="2644140"/>
        <a:ext cx="2889450" cy="720000"/>
      </dsp:txXfrm>
    </dsp:sp>
    <dsp:sp modelId="{FDC6A83B-C127-A844-88C7-31E1918441BA}">
      <dsp:nvSpPr>
        <dsp:cNvPr id="0" name=""/>
        <dsp:cNvSpPr/>
      </dsp:nvSpPr>
      <dsp:spPr>
        <a:xfrm>
          <a:off x="4607673" y="987197"/>
          <a:ext cx="1300252" cy="1300252"/>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18EAA7-C374-EA49-BC35-C330A863056F}">
      <dsp:nvSpPr>
        <dsp:cNvPr id="0" name=""/>
        <dsp:cNvSpPr/>
      </dsp:nvSpPr>
      <dsp:spPr>
        <a:xfrm>
          <a:off x="3813074"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GB" sz="1300" kern="1200" dirty="0"/>
            <a:t>Instantly query </a:t>
          </a:r>
          <a:r>
            <a:rPr lang="en-GB" sz="1300" b="1" kern="1200" dirty="0"/>
            <a:t>125+ million academic papers</a:t>
          </a:r>
          <a:r>
            <a:rPr lang="en-GB" sz="1300" kern="1200" dirty="0"/>
            <a:t> using LLM</a:t>
          </a:r>
        </a:p>
      </dsp:txBody>
      <dsp:txXfrm>
        <a:off x="3813074" y="2644140"/>
        <a:ext cx="2889450" cy="720000"/>
      </dsp:txXfrm>
    </dsp:sp>
    <dsp:sp modelId="{82C82C60-3FB5-4B9A-9B51-D1DD9B2DA215}">
      <dsp:nvSpPr>
        <dsp:cNvPr id="0" name=""/>
        <dsp:cNvSpPr/>
      </dsp:nvSpPr>
      <dsp:spPr>
        <a:xfrm>
          <a:off x="8002777" y="987197"/>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B06AE6-6D99-4419-A38A-E7FCBF859851}">
      <dsp:nvSpPr>
        <dsp:cNvPr id="0" name=""/>
        <dsp:cNvSpPr/>
      </dsp:nvSpPr>
      <dsp:spPr>
        <a:xfrm>
          <a:off x="7208178"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1" kern="1200"/>
            <a:t>Cut Costs:</a:t>
          </a:r>
          <a:r>
            <a:rPr lang="en-US" sz="1300" kern="1200"/>
            <a:t> Pilot studies show research teams reduce </a:t>
          </a:r>
          <a:r>
            <a:rPr lang="en-US" sz="1300" b="1" kern="1200"/>
            <a:t>manual data extraction time and costs by over 50%</a:t>
          </a:r>
          <a:endParaRPr lang="en-US" sz="1300" kern="1200"/>
        </a:p>
      </dsp:txBody>
      <dsp:txXfrm>
        <a:off x="7208178" y="2644140"/>
        <a:ext cx="28894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D4BCC7-A303-474B-BAF8-D820C4E990D1}">
      <dsp:nvSpPr>
        <dsp:cNvPr id="0" name=""/>
        <dsp:cNvSpPr/>
      </dsp:nvSpPr>
      <dsp:spPr>
        <a:xfrm>
          <a:off x="134462" y="1290013"/>
          <a:ext cx="1125190" cy="112519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F2FD6A-A2DC-47C3-B6C2-D2B0570929F4}">
      <dsp:nvSpPr>
        <dsp:cNvPr id="0" name=""/>
        <dsp:cNvSpPr/>
      </dsp:nvSpPr>
      <dsp:spPr>
        <a:xfrm>
          <a:off x="370752" y="1526303"/>
          <a:ext cx="652610" cy="6526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7FD663-E773-4E3B-A096-50899ECBCA92}">
      <dsp:nvSpPr>
        <dsp:cNvPr id="0" name=""/>
        <dsp:cNvSpPr/>
      </dsp:nvSpPr>
      <dsp:spPr>
        <a:xfrm>
          <a:off x="1500764" y="1290013"/>
          <a:ext cx="2652233" cy="1125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dirty="0">
              <a:solidFill>
                <a:schemeClr val="bg1"/>
              </a:solidFill>
            </a:rPr>
            <a:t>Save Time:</a:t>
          </a:r>
          <a:r>
            <a:rPr lang="en-US" sz="1800" kern="1200" dirty="0">
              <a:solidFill>
                <a:schemeClr val="bg1"/>
              </a:solidFill>
            </a:rPr>
            <a:t> In a survey, 80% users report saving </a:t>
          </a:r>
          <a:r>
            <a:rPr lang="en-US" sz="1800" b="1" kern="1200" dirty="0">
              <a:solidFill>
                <a:schemeClr val="bg1"/>
              </a:solidFill>
            </a:rPr>
            <a:t>10 or more hours every week</a:t>
          </a:r>
          <a:r>
            <a:rPr lang="en-US" sz="1800" kern="1200" dirty="0">
              <a:solidFill>
                <a:schemeClr val="bg1"/>
              </a:solidFill>
            </a:rPr>
            <a:t> using our intelligent automation</a:t>
          </a:r>
        </a:p>
      </dsp:txBody>
      <dsp:txXfrm>
        <a:off x="1500764" y="1290013"/>
        <a:ext cx="2652233" cy="1125190"/>
      </dsp:txXfrm>
    </dsp:sp>
    <dsp:sp modelId="{94E57FB4-0F94-4365-8A74-90045FCCCC87}">
      <dsp:nvSpPr>
        <dsp:cNvPr id="0" name=""/>
        <dsp:cNvSpPr/>
      </dsp:nvSpPr>
      <dsp:spPr>
        <a:xfrm>
          <a:off x="4615130" y="1290013"/>
          <a:ext cx="1125190" cy="112519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A70E84-8A34-442D-8352-01DD1D89082C}">
      <dsp:nvSpPr>
        <dsp:cNvPr id="0" name=""/>
        <dsp:cNvSpPr/>
      </dsp:nvSpPr>
      <dsp:spPr>
        <a:xfrm>
          <a:off x="4851420" y="1526303"/>
          <a:ext cx="652610" cy="6526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D2218E-D283-43CE-B57E-6537A6F579DD}">
      <dsp:nvSpPr>
        <dsp:cNvPr id="0" name=""/>
        <dsp:cNvSpPr/>
      </dsp:nvSpPr>
      <dsp:spPr>
        <a:xfrm>
          <a:off x="5981432" y="1290013"/>
          <a:ext cx="2652233" cy="1125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b="1" kern="1200" dirty="0">
              <a:solidFill>
                <a:schemeClr val="bg1"/>
              </a:solidFill>
            </a:rPr>
            <a:t>Cut Costs:</a:t>
          </a:r>
          <a:r>
            <a:rPr lang="en-US" sz="1800" kern="1200" dirty="0">
              <a:solidFill>
                <a:schemeClr val="bg1"/>
              </a:solidFill>
            </a:rPr>
            <a:t> Our tool cut </a:t>
          </a:r>
          <a:r>
            <a:rPr lang="en-US" sz="1800" b="1" kern="1200" dirty="0">
              <a:solidFill>
                <a:schemeClr val="bg1"/>
              </a:solidFill>
            </a:rPr>
            <a:t>manual research time and costs in half </a:t>
          </a:r>
          <a:r>
            <a:rPr lang="en-US" sz="1800" b="0" kern="1200" dirty="0">
              <a:solidFill>
                <a:schemeClr val="bg1"/>
              </a:solidFill>
            </a:rPr>
            <a:t>in pilot deployment</a:t>
          </a:r>
          <a:endParaRPr lang="en-GB" sz="1800" kern="1200" dirty="0">
            <a:solidFill>
              <a:schemeClr val="bg1"/>
            </a:solidFill>
          </a:endParaRPr>
        </a:p>
      </dsp:txBody>
      <dsp:txXfrm>
        <a:off x="5981432" y="1290013"/>
        <a:ext cx="2652233" cy="112519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D4A9EB-6F6D-2A40-B705-B0B381AF1816}" type="datetimeFigureOut">
              <a:rPr lang="en-US" smtClean="0"/>
              <a:t>6/30/25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12D89A-42D6-B748-8DDE-730382F3215A}" type="slidenum">
              <a:rPr lang="en-US" smtClean="0"/>
              <a:t>‹#›</a:t>
            </a:fld>
            <a:endParaRPr lang="en-US"/>
          </a:p>
        </p:txBody>
      </p:sp>
    </p:spTree>
    <p:extLst>
      <p:ext uri="{BB962C8B-B14F-4D97-AF65-F5344CB8AC3E}">
        <p14:creationId xmlns:p14="http://schemas.microsoft.com/office/powerpoint/2010/main" val="1263120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you can tell from my education, I have a multidisciplinary background. I hold an MSc in Biomedical Engineering from RWTH Aachen in Germany, and a PhD in Biomedical Science from the University of Sheffield in the UK.</a:t>
            </a:r>
          </a:p>
          <a:p>
            <a:r>
              <a:rPr lang="en-GB" dirty="0"/>
              <a:t>Over the past few years, I have been working as a biomedical researcher, where I not only carried out experimental work but also developed software and AI-based tools to analyse complex biological data. In addition to research, I’ve had the opportunity to teach programming workshops for MSc and PhD students, as well as maths and science to UK school pupils. </a:t>
            </a:r>
          </a:p>
          <a:p>
            <a:endParaRPr lang="en-GB" dirty="0"/>
          </a:p>
          <a:p>
            <a:r>
              <a:rPr lang="en-GB" dirty="0"/>
              <a:t>I’m passionate about teaching young generation the right techniques of understanding maths and </a:t>
            </a:r>
            <a:r>
              <a:rPr lang="en-GB" dirty="0" err="1"/>
              <a:t>science.That’s</a:t>
            </a:r>
            <a:r>
              <a:rPr lang="en-GB" dirty="0"/>
              <a:t> why I’m really excited about this opportunity, as it aligns closely with both my expertise and interests.</a:t>
            </a:r>
            <a:endParaRPr lang="en-US" dirty="0"/>
          </a:p>
        </p:txBody>
      </p:sp>
      <p:sp>
        <p:nvSpPr>
          <p:cNvPr id="4" name="Slide Number Placeholder 3"/>
          <p:cNvSpPr>
            <a:spLocks noGrp="1"/>
          </p:cNvSpPr>
          <p:nvPr>
            <p:ph type="sldNum" sz="quarter" idx="5"/>
          </p:nvPr>
        </p:nvSpPr>
        <p:spPr/>
        <p:txBody>
          <a:bodyPr/>
          <a:lstStyle/>
          <a:p>
            <a:fld id="{1A60E39C-0B83-9A43-8D0E-D20461E90C13}" type="slidenum">
              <a:rPr lang="en-US" smtClean="0"/>
              <a:t>4</a:t>
            </a:fld>
            <a:endParaRPr lang="en-US"/>
          </a:p>
        </p:txBody>
      </p:sp>
    </p:spTree>
    <p:extLst>
      <p:ext uri="{BB962C8B-B14F-4D97-AF65-F5344CB8AC3E}">
        <p14:creationId xmlns:p14="http://schemas.microsoft.com/office/powerpoint/2010/main" val="855439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you can tell from my education, I have a multidisciplinary background. I hold an MSc in Biomedical Engineering from RWTH Aachen in Germany, and a PhD in Biomedical Science from the University of Sheffield in the UK.</a:t>
            </a:r>
          </a:p>
          <a:p>
            <a:r>
              <a:rPr lang="en-GB" dirty="0"/>
              <a:t>Over the past few years, I have been working as a biomedical researcher, where I not only carried out experimental work but also developed software and AI-based tools to analyse complex biological data. In addition to research, I’ve had the opportunity to teach programming workshops for MSc and PhD students, as well as maths and science to UK school pupils. </a:t>
            </a:r>
          </a:p>
          <a:p>
            <a:endParaRPr lang="en-GB" dirty="0"/>
          </a:p>
          <a:p>
            <a:r>
              <a:rPr lang="en-GB" dirty="0"/>
              <a:t>I’m passionate about teaching young generation the right techniques of understanding maths and </a:t>
            </a:r>
            <a:r>
              <a:rPr lang="en-GB" dirty="0" err="1"/>
              <a:t>science.That’s</a:t>
            </a:r>
            <a:r>
              <a:rPr lang="en-GB" dirty="0"/>
              <a:t> why I’m really excited about this opportunity, as it aligns closely with both my expertise and interests.</a:t>
            </a:r>
            <a:endParaRPr lang="en-US" dirty="0"/>
          </a:p>
        </p:txBody>
      </p:sp>
      <p:sp>
        <p:nvSpPr>
          <p:cNvPr id="4" name="Slide Number Placeholder 3"/>
          <p:cNvSpPr>
            <a:spLocks noGrp="1"/>
          </p:cNvSpPr>
          <p:nvPr>
            <p:ph type="sldNum" sz="quarter" idx="5"/>
          </p:nvPr>
        </p:nvSpPr>
        <p:spPr/>
        <p:txBody>
          <a:bodyPr/>
          <a:lstStyle/>
          <a:p>
            <a:fld id="{1A60E39C-0B83-9A43-8D0E-D20461E90C13}" type="slidenum">
              <a:rPr lang="en-US" smtClean="0"/>
              <a:t>6</a:t>
            </a:fld>
            <a:endParaRPr lang="en-US"/>
          </a:p>
        </p:txBody>
      </p:sp>
    </p:spTree>
    <p:extLst>
      <p:ext uri="{BB962C8B-B14F-4D97-AF65-F5344CB8AC3E}">
        <p14:creationId xmlns:p14="http://schemas.microsoft.com/office/powerpoint/2010/main" val="855439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you can tell from my education, I have a multidisciplinary background. I hold an MSc in Biomedical Engineering from RWTH Aachen in Germany, and a PhD in Biomedical Science from the University of Sheffield in the UK.</a:t>
            </a:r>
          </a:p>
          <a:p>
            <a:r>
              <a:rPr lang="en-GB" dirty="0"/>
              <a:t>Over the past few years, I have been working as a biomedical researcher, where I not only carried out experimental work but also developed software and AI-based tools to analyse complex biological data. In addition to research, I’ve had the opportunity to teach programming workshops for MSc and PhD students, as well as maths and science to UK school pupils. </a:t>
            </a:r>
          </a:p>
          <a:p>
            <a:endParaRPr lang="en-GB" dirty="0"/>
          </a:p>
          <a:p>
            <a:r>
              <a:rPr lang="en-GB" dirty="0"/>
              <a:t>I’m passionate about teaching young generation the right techniques of understanding maths and </a:t>
            </a:r>
            <a:r>
              <a:rPr lang="en-GB" dirty="0" err="1"/>
              <a:t>science.That’s</a:t>
            </a:r>
            <a:r>
              <a:rPr lang="en-GB" dirty="0"/>
              <a:t> why I’m really excited about this opportunity, as it aligns closely with both my expertise and interests.</a:t>
            </a:r>
            <a:endParaRPr lang="en-US" dirty="0"/>
          </a:p>
        </p:txBody>
      </p:sp>
      <p:sp>
        <p:nvSpPr>
          <p:cNvPr id="4" name="Slide Number Placeholder 3"/>
          <p:cNvSpPr>
            <a:spLocks noGrp="1"/>
          </p:cNvSpPr>
          <p:nvPr>
            <p:ph type="sldNum" sz="quarter" idx="5"/>
          </p:nvPr>
        </p:nvSpPr>
        <p:spPr/>
        <p:txBody>
          <a:bodyPr/>
          <a:lstStyle/>
          <a:p>
            <a:fld id="{1A60E39C-0B83-9A43-8D0E-D20461E90C13}" type="slidenum">
              <a:rPr lang="en-US" smtClean="0"/>
              <a:t>7</a:t>
            </a:fld>
            <a:endParaRPr lang="en-US"/>
          </a:p>
        </p:txBody>
      </p:sp>
    </p:spTree>
    <p:extLst>
      <p:ext uri="{BB962C8B-B14F-4D97-AF65-F5344CB8AC3E}">
        <p14:creationId xmlns:p14="http://schemas.microsoft.com/office/powerpoint/2010/main" val="250078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6EB-B191-5C07-C188-6A0288B79EE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0977F1B-47B5-E1E5-B6DF-0FCB9BA04F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26B71A3-4E34-4345-42C0-DF0258709209}"/>
              </a:ext>
            </a:extLst>
          </p:cNvPr>
          <p:cNvSpPr>
            <a:spLocks noGrp="1"/>
          </p:cNvSpPr>
          <p:nvPr>
            <p:ph type="dt" sz="half" idx="10"/>
          </p:nvPr>
        </p:nvSpPr>
        <p:spPr/>
        <p:txBody>
          <a:bodyPr/>
          <a:lstStyle/>
          <a:p>
            <a:fld id="{BBF09B49-62FC-A94E-9331-DFCFC753349C}" type="datetimeFigureOut">
              <a:rPr lang="en-US" smtClean="0"/>
              <a:t>6/30/25</a:t>
            </a:fld>
            <a:endParaRPr lang="en-US"/>
          </a:p>
        </p:txBody>
      </p:sp>
      <p:sp>
        <p:nvSpPr>
          <p:cNvPr id="5" name="Footer Placeholder 4">
            <a:extLst>
              <a:ext uri="{FF2B5EF4-FFF2-40B4-BE49-F238E27FC236}">
                <a16:creationId xmlns:a16="http://schemas.microsoft.com/office/drawing/2014/main" id="{F06C53AD-EE0E-8DF9-CFFD-CEC2C74C53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C572E9-C72C-60BA-13F9-6E3BEE78B09D}"/>
              </a:ext>
            </a:extLst>
          </p:cNvPr>
          <p:cNvSpPr>
            <a:spLocks noGrp="1"/>
          </p:cNvSpPr>
          <p:nvPr>
            <p:ph type="sldNum" sz="quarter" idx="12"/>
          </p:nvPr>
        </p:nvSpPr>
        <p:spPr/>
        <p:txBody>
          <a:bodyPr/>
          <a:lstStyle/>
          <a:p>
            <a:fld id="{5E42E1AA-6D1D-4049-AFF0-FCE91AC52540}" type="slidenum">
              <a:rPr lang="en-US" smtClean="0"/>
              <a:t>‹#›</a:t>
            </a:fld>
            <a:endParaRPr lang="en-US"/>
          </a:p>
        </p:txBody>
      </p:sp>
    </p:spTree>
    <p:extLst>
      <p:ext uri="{BB962C8B-B14F-4D97-AF65-F5344CB8AC3E}">
        <p14:creationId xmlns:p14="http://schemas.microsoft.com/office/powerpoint/2010/main" val="312494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D432A-6A37-A56F-5CCA-F9C25C10ED1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914BE24-B146-9A95-7240-2BCC2742710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E9C12F0-E812-DCCA-712E-02A7775CDF73}"/>
              </a:ext>
            </a:extLst>
          </p:cNvPr>
          <p:cNvSpPr>
            <a:spLocks noGrp="1"/>
          </p:cNvSpPr>
          <p:nvPr>
            <p:ph type="dt" sz="half" idx="10"/>
          </p:nvPr>
        </p:nvSpPr>
        <p:spPr/>
        <p:txBody>
          <a:bodyPr/>
          <a:lstStyle/>
          <a:p>
            <a:fld id="{BBF09B49-62FC-A94E-9331-DFCFC753349C}" type="datetimeFigureOut">
              <a:rPr lang="en-US" smtClean="0"/>
              <a:t>6/30/25</a:t>
            </a:fld>
            <a:endParaRPr lang="en-US"/>
          </a:p>
        </p:txBody>
      </p:sp>
      <p:sp>
        <p:nvSpPr>
          <p:cNvPr id="5" name="Footer Placeholder 4">
            <a:extLst>
              <a:ext uri="{FF2B5EF4-FFF2-40B4-BE49-F238E27FC236}">
                <a16:creationId xmlns:a16="http://schemas.microsoft.com/office/drawing/2014/main" id="{CAF68354-7A75-635F-21A2-E04EBE1CFB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6695C7-B6A0-5C75-7176-DA80F4F5A916}"/>
              </a:ext>
            </a:extLst>
          </p:cNvPr>
          <p:cNvSpPr>
            <a:spLocks noGrp="1"/>
          </p:cNvSpPr>
          <p:nvPr>
            <p:ph type="sldNum" sz="quarter" idx="12"/>
          </p:nvPr>
        </p:nvSpPr>
        <p:spPr/>
        <p:txBody>
          <a:bodyPr/>
          <a:lstStyle/>
          <a:p>
            <a:fld id="{5E42E1AA-6D1D-4049-AFF0-FCE91AC52540}" type="slidenum">
              <a:rPr lang="en-US" smtClean="0"/>
              <a:t>‹#›</a:t>
            </a:fld>
            <a:endParaRPr lang="en-US"/>
          </a:p>
        </p:txBody>
      </p:sp>
    </p:spTree>
    <p:extLst>
      <p:ext uri="{BB962C8B-B14F-4D97-AF65-F5344CB8AC3E}">
        <p14:creationId xmlns:p14="http://schemas.microsoft.com/office/powerpoint/2010/main" val="290125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EF645-6E3D-FBDD-F474-579CFD0A73D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A25E600-2E73-9629-0B15-92E5EE9883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BCB4E10-AE27-4EE1-03E2-EF6981A3478D}"/>
              </a:ext>
            </a:extLst>
          </p:cNvPr>
          <p:cNvSpPr>
            <a:spLocks noGrp="1"/>
          </p:cNvSpPr>
          <p:nvPr>
            <p:ph type="dt" sz="half" idx="10"/>
          </p:nvPr>
        </p:nvSpPr>
        <p:spPr/>
        <p:txBody>
          <a:bodyPr/>
          <a:lstStyle/>
          <a:p>
            <a:fld id="{BBF09B49-62FC-A94E-9331-DFCFC753349C}" type="datetimeFigureOut">
              <a:rPr lang="en-US" smtClean="0"/>
              <a:t>6/30/25</a:t>
            </a:fld>
            <a:endParaRPr lang="en-US"/>
          </a:p>
        </p:txBody>
      </p:sp>
      <p:sp>
        <p:nvSpPr>
          <p:cNvPr id="5" name="Footer Placeholder 4">
            <a:extLst>
              <a:ext uri="{FF2B5EF4-FFF2-40B4-BE49-F238E27FC236}">
                <a16:creationId xmlns:a16="http://schemas.microsoft.com/office/drawing/2014/main" id="{8B36568C-FDCA-48CF-95AB-BB3FF56C62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A129EF-63D1-2313-EA26-FA21BB605B72}"/>
              </a:ext>
            </a:extLst>
          </p:cNvPr>
          <p:cNvSpPr>
            <a:spLocks noGrp="1"/>
          </p:cNvSpPr>
          <p:nvPr>
            <p:ph type="sldNum" sz="quarter" idx="12"/>
          </p:nvPr>
        </p:nvSpPr>
        <p:spPr/>
        <p:txBody>
          <a:bodyPr/>
          <a:lstStyle/>
          <a:p>
            <a:fld id="{5E42E1AA-6D1D-4049-AFF0-FCE91AC52540}" type="slidenum">
              <a:rPr lang="en-US" smtClean="0"/>
              <a:t>‹#›</a:t>
            </a:fld>
            <a:endParaRPr lang="en-US"/>
          </a:p>
        </p:txBody>
      </p:sp>
    </p:spTree>
    <p:extLst>
      <p:ext uri="{BB962C8B-B14F-4D97-AF65-F5344CB8AC3E}">
        <p14:creationId xmlns:p14="http://schemas.microsoft.com/office/powerpoint/2010/main" val="1072640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3BB01-59A4-C086-05B5-8AAB435F524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320E601-FFC1-A7C7-2CD3-BD21C4ACEED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724027C-0B9D-5863-D8E6-20289B5F986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B2C17FA-D36A-92A6-46D6-D3DBFD0088DD}"/>
              </a:ext>
            </a:extLst>
          </p:cNvPr>
          <p:cNvSpPr>
            <a:spLocks noGrp="1"/>
          </p:cNvSpPr>
          <p:nvPr>
            <p:ph type="dt" sz="half" idx="10"/>
          </p:nvPr>
        </p:nvSpPr>
        <p:spPr/>
        <p:txBody>
          <a:bodyPr/>
          <a:lstStyle/>
          <a:p>
            <a:fld id="{BBF09B49-62FC-A94E-9331-DFCFC753349C}" type="datetimeFigureOut">
              <a:rPr lang="en-US" smtClean="0"/>
              <a:t>6/30/25</a:t>
            </a:fld>
            <a:endParaRPr lang="en-US"/>
          </a:p>
        </p:txBody>
      </p:sp>
      <p:sp>
        <p:nvSpPr>
          <p:cNvPr id="6" name="Footer Placeholder 5">
            <a:extLst>
              <a:ext uri="{FF2B5EF4-FFF2-40B4-BE49-F238E27FC236}">
                <a16:creationId xmlns:a16="http://schemas.microsoft.com/office/drawing/2014/main" id="{D6E2378B-28D6-AF92-33A3-EA885BAB50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C6FB04-7916-5A4D-4D13-C88F4544B96D}"/>
              </a:ext>
            </a:extLst>
          </p:cNvPr>
          <p:cNvSpPr>
            <a:spLocks noGrp="1"/>
          </p:cNvSpPr>
          <p:nvPr>
            <p:ph type="sldNum" sz="quarter" idx="12"/>
          </p:nvPr>
        </p:nvSpPr>
        <p:spPr/>
        <p:txBody>
          <a:bodyPr/>
          <a:lstStyle/>
          <a:p>
            <a:fld id="{5E42E1AA-6D1D-4049-AFF0-FCE91AC52540}" type="slidenum">
              <a:rPr lang="en-US" smtClean="0"/>
              <a:t>‹#›</a:t>
            </a:fld>
            <a:endParaRPr lang="en-US"/>
          </a:p>
        </p:txBody>
      </p:sp>
    </p:spTree>
    <p:extLst>
      <p:ext uri="{BB962C8B-B14F-4D97-AF65-F5344CB8AC3E}">
        <p14:creationId xmlns:p14="http://schemas.microsoft.com/office/powerpoint/2010/main" val="1896018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0608-EB6C-F919-8180-A43126AD489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636D6AC-7C3C-B0DD-B5BE-B5A5E5FE2E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50D411-81C5-7A06-B81E-602461A2C4E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473BFD7-DB02-ABCE-5348-691843579B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0DB195F-286E-6544-3E61-14C2F03EB3C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E1CE68C-622C-F6EB-8427-CA6ABB80916D}"/>
              </a:ext>
            </a:extLst>
          </p:cNvPr>
          <p:cNvSpPr>
            <a:spLocks noGrp="1"/>
          </p:cNvSpPr>
          <p:nvPr>
            <p:ph type="dt" sz="half" idx="10"/>
          </p:nvPr>
        </p:nvSpPr>
        <p:spPr/>
        <p:txBody>
          <a:bodyPr/>
          <a:lstStyle/>
          <a:p>
            <a:fld id="{BBF09B49-62FC-A94E-9331-DFCFC753349C}" type="datetimeFigureOut">
              <a:rPr lang="en-US" smtClean="0"/>
              <a:t>6/30/25</a:t>
            </a:fld>
            <a:endParaRPr lang="en-US"/>
          </a:p>
        </p:txBody>
      </p:sp>
      <p:sp>
        <p:nvSpPr>
          <p:cNvPr id="8" name="Footer Placeholder 7">
            <a:extLst>
              <a:ext uri="{FF2B5EF4-FFF2-40B4-BE49-F238E27FC236}">
                <a16:creationId xmlns:a16="http://schemas.microsoft.com/office/drawing/2014/main" id="{1CBFFFA5-BC0A-C0F3-FBE0-0A2F6E7277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C05D15-8C7D-23E7-4693-E67355335BEE}"/>
              </a:ext>
            </a:extLst>
          </p:cNvPr>
          <p:cNvSpPr>
            <a:spLocks noGrp="1"/>
          </p:cNvSpPr>
          <p:nvPr>
            <p:ph type="sldNum" sz="quarter" idx="12"/>
          </p:nvPr>
        </p:nvSpPr>
        <p:spPr/>
        <p:txBody>
          <a:bodyPr/>
          <a:lstStyle/>
          <a:p>
            <a:fld id="{5E42E1AA-6D1D-4049-AFF0-FCE91AC52540}" type="slidenum">
              <a:rPr lang="en-US" smtClean="0"/>
              <a:t>‹#›</a:t>
            </a:fld>
            <a:endParaRPr lang="en-US"/>
          </a:p>
        </p:txBody>
      </p:sp>
    </p:spTree>
    <p:extLst>
      <p:ext uri="{BB962C8B-B14F-4D97-AF65-F5344CB8AC3E}">
        <p14:creationId xmlns:p14="http://schemas.microsoft.com/office/powerpoint/2010/main" val="1681372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276B7-17DC-AA90-A1B0-E8DEDE1035C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113EAF-D537-0EEA-C843-544F5945165F}"/>
              </a:ext>
            </a:extLst>
          </p:cNvPr>
          <p:cNvSpPr>
            <a:spLocks noGrp="1"/>
          </p:cNvSpPr>
          <p:nvPr>
            <p:ph type="dt" sz="half" idx="10"/>
          </p:nvPr>
        </p:nvSpPr>
        <p:spPr/>
        <p:txBody>
          <a:bodyPr/>
          <a:lstStyle/>
          <a:p>
            <a:fld id="{BBF09B49-62FC-A94E-9331-DFCFC753349C}" type="datetimeFigureOut">
              <a:rPr lang="en-US" smtClean="0"/>
              <a:t>6/30/25</a:t>
            </a:fld>
            <a:endParaRPr lang="en-US"/>
          </a:p>
        </p:txBody>
      </p:sp>
      <p:sp>
        <p:nvSpPr>
          <p:cNvPr id="4" name="Footer Placeholder 3">
            <a:extLst>
              <a:ext uri="{FF2B5EF4-FFF2-40B4-BE49-F238E27FC236}">
                <a16:creationId xmlns:a16="http://schemas.microsoft.com/office/drawing/2014/main" id="{F0607090-80BA-EC4F-53F4-96D549539B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C1F577-6711-FA4E-40A0-EF7E21CBDE35}"/>
              </a:ext>
            </a:extLst>
          </p:cNvPr>
          <p:cNvSpPr>
            <a:spLocks noGrp="1"/>
          </p:cNvSpPr>
          <p:nvPr>
            <p:ph type="sldNum" sz="quarter" idx="12"/>
          </p:nvPr>
        </p:nvSpPr>
        <p:spPr/>
        <p:txBody>
          <a:bodyPr/>
          <a:lstStyle/>
          <a:p>
            <a:fld id="{5E42E1AA-6D1D-4049-AFF0-FCE91AC52540}" type="slidenum">
              <a:rPr lang="en-US" smtClean="0"/>
              <a:t>‹#›</a:t>
            </a:fld>
            <a:endParaRPr lang="en-US"/>
          </a:p>
        </p:txBody>
      </p:sp>
    </p:spTree>
    <p:extLst>
      <p:ext uri="{BB962C8B-B14F-4D97-AF65-F5344CB8AC3E}">
        <p14:creationId xmlns:p14="http://schemas.microsoft.com/office/powerpoint/2010/main" val="2540788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E0E2B6-FC13-C078-C623-85476BB116B6}"/>
              </a:ext>
            </a:extLst>
          </p:cNvPr>
          <p:cNvSpPr>
            <a:spLocks noGrp="1"/>
          </p:cNvSpPr>
          <p:nvPr>
            <p:ph type="dt" sz="half" idx="10"/>
          </p:nvPr>
        </p:nvSpPr>
        <p:spPr/>
        <p:txBody>
          <a:bodyPr/>
          <a:lstStyle/>
          <a:p>
            <a:fld id="{BBF09B49-62FC-A94E-9331-DFCFC753349C}" type="datetimeFigureOut">
              <a:rPr lang="en-US" smtClean="0"/>
              <a:t>6/30/25</a:t>
            </a:fld>
            <a:endParaRPr lang="en-US"/>
          </a:p>
        </p:txBody>
      </p:sp>
      <p:sp>
        <p:nvSpPr>
          <p:cNvPr id="3" name="Footer Placeholder 2">
            <a:extLst>
              <a:ext uri="{FF2B5EF4-FFF2-40B4-BE49-F238E27FC236}">
                <a16:creationId xmlns:a16="http://schemas.microsoft.com/office/drawing/2014/main" id="{374AC210-63BF-CA46-BB38-A59FE89951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846676-0131-98EF-3BEB-36E9B229EA96}"/>
              </a:ext>
            </a:extLst>
          </p:cNvPr>
          <p:cNvSpPr>
            <a:spLocks noGrp="1"/>
          </p:cNvSpPr>
          <p:nvPr>
            <p:ph type="sldNum" sz="quarter" idx="12"/>
          </p:nvPr>
        </p:nvSpPr>
        <p:spPr/>
        <p:txBody>
          <a:bodyPr/>
          <a:lstStyle/>
          <a:p>
            <a:fld id="{5E42E1AA-6D1D-4049-AFF0-FCE91AC52540}" type="slidenum">
              <a:rPr lang="en-US" smtClean="0"/>
              <a:t>‹#›</a:t>
            </a:fld>
            <a:endParaRPr lang="en-US"/>
          </a:p>
        </p:txBody>
      </p:sp>
    </p:spTree>
    <p:extLst>
      <p:ext uri="{BB962C8B-B14F-4D97-AF65-F5344CB8AC3E}">
        <p14:creationId xmlns:p14="http://schemas.microsoft.com/office/powerpoint/2010/main" val="216195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909C4-DCA1-0044-E020-D58FB4022BF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C0B44F4-EEEC-4006-65AD-97B5969F29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A53866F-7D68-C807-7A5A-8F78A59A0A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6B5D74D-9C02-6235-A551-E3D40E86E4F2}"/>
              </a:ext>
            </a:extLst>
          </p:cNvPr>
          <p:cNvSpPr>
            <a:spLocks noGrp="1"/>
          </p:cNvSpPr>
          <p:nvPr>
            <p:ph type="dt" sz="half" idx="10"/>
          </p:nvPr>
        </p:nvSpPr>
        <p:spPr/>
        <p:txBody>
          <a:bodyPr/>
          <a:lstStyle/>
          <a:p>
            <a:fld id="{BBF09B49-62FC-A94E-9331-DFCFC753349C}" type="datetimeFigureOut">
              <a:rPr lang="en-US" smtClean="0"/>
              <a:t>6/30/25</a:t>
            </a:fld>
            <a:endParaRPr lang="en-US"/>
          </a:p>
        </p:txBody>
      </p:sp>
      <p:sp>
        <p:nvSpPr>
          <p:cNvPr id="6" name="Footer Placeholder 5">
            <a:extLst>
              <a:ext uri="{FF2B5EF4-FFF2-40B4-BE49-F238E27FC236}">
                <a16:creationId xmlns:a16="http://schemas.microsoft.com/office/drawing/2014/main" id="{46509CF9-BE7A-1091-40A5-DB754F45AC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2A4B97-CC95-560F-BD27-D9CCEBDFBC01}"/>
              </a:ext>
            </a:extLst>
          </p:cNvPr>
          <p:cNvSpPr>
            <a:spLocks noGrp="1"/>
          </p:cNvSpPr>
          <p:nvPr>
            <p:ph type="sldNum" sz="quarter" idx="12"/>
          </p:nvPr>
        </p:nvSpPr>
        <p:spPr/>
        <p:txBody>
          <a:bodyPr/>
          <a:lstStyle/>
          <a:p>
            <a:fld id="{5E42E1AA-6D1D-4049-AFF0-FCE91AC52540}" type="slidenum">
              <a:rPr lang="en-US" smtClean="0"/>
              <a:t>‹#›</a:t>
            </a:fld>
            <a:endParaRPr lang="en-US"/>
          </a:p>
        </p:txBody>
      </p:sp>
    </p:spTree>
    <p:extLst>
      <p:ext uri="{BB962C8B-B14F-4D97-AF65-F5344CB8AC3E}">
        <p14:creationId xmlns:p14="http://schemas.microsoft.com/office/powerpoint/2010/main" val="944358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B5ED5-9295-5A7E-B0F5-2DAE2332130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EEA2091-949F-BB79-4307-07EE9D29BC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08A99A-0EC3-ED27-F64A-1E66FB0FA6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1B8DD52-897F-6137-FA7D-66BEBD6EE66B}"/>
              </a:ext>
            </a:extLst>
          </p:cNvPr>
          <p:cNvSpPr>
            <a:spLocks noGrp="1"/>
          </p:cNvSpPr>
          <p:nvPr>
            <p:ph type="dt" sz="half" idx="10"/>
          </p:nvPr>
        </p:nvSpPr>
        <p:spPr/>
        <p:txBody>
          <a:bodyPr/>
          <a:lstStyle/>
          <a:p>
            <a:fld id="{BBF09B49-62FC-A94E-9331-DFCFC753349C}" type="datetimeFigureOut">
              <a:rPr lang="en-US" smtClean="0"/>
              <a:t>6/30/25</a:t>
            </a:fld>
            <a:endParaRPr lang="en-US"/>
          </a:p>
        </p:txBody>
      </p:sp>
      <p:sp>
        <p:nvSpPr>
          <p:cNvPr id="6" name="Footer Placeholder 5">
            <a:extLst>
              <a:ext uri="{FF2B5EF4-FFF2-40B4-BE49-F238E27FC236}">
                <a16:creationId xmlns:a16="http://schemas.microsoft.com/office/drawing/2014/main" id="{0E6E170B-4943-E397-DCEE-C057534CF9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60C96D-017A-FE56-F6F7-1F5C7FF87621}"/>
              </a:ext>
            </a:extLst>
          </p:cNvPr>
          <p:cNvSpPr>
            <a:spLocks noGrp="1"/>
          </p:cNvSpPr>
          <p:nvPr>
            <p:ph type="sldNum" sz="quarter" idx="12"/>
          </p:nvPr>
        </p:nvSpPr>
        <p:spPr/>
        <p:txBody>
          <a:bodyPr/>
          <a:lstStyle/>
          <a:p>
            <a:fld id="{5E42E1AA-6D1D-4049-AFF0-FCE91AC52540}" type="slidenum">
              <a:rPr lang="en-US" smtClean="0"/>
              <a:t>‹#›</a:t>
            </a:fld>
            <a:endParaRPr lang="en-US"/>
          </a:p>
        </p:txBody>
      </p:sp>
    </p:spTree>
    <p:extLst>
      <p:ext uri="{BB962C8B-B14F-4D97-AF65-F5344CB8AC3E}">
        <p14:creationId xmlns:p14="http://schemas.microsoft.com/office/powerpoint/2010/main" val="253969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F944-5836-95AA-25DF-E36214F5C46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97469B8-E620-C706-A3FD-3D3BE907F1E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7AE4753-7C87-3666-E41C-6CD8340A3594}"/>
              </a:ext>
            </a:extLst>
          </p:cNvPr>
          <p:cNvSpPr>
            <a:spLocks noGrp="1"/>
          </p:cNvSpPr>
          <p:nvPr>
            <p:ph type="dt" sz="half" idx="10"/>
          </p:nvPr>
        </p:nvSpPr>
        <p:spPr/>
        <p:txBody>
          <a:bodyPr/>
          <a:lstStyle/>
          <a:p>
            <a:fld id="{BBF09B49-62FC-A94E-9331-DFCFC753349C}" type="datetimeFigureOut">
              <a:rPr lang="en-US" smtClean="0"/>
              <a:t>6/30/25</a:t>
            </a:fld>
            <a:endParaRPr lang="en-US"/>
          </a:p>
        </p:txBody>
      </p:sp>
      <p:sp>
        <p:nvSpPr>
          <p:cNvPr id="5" name="Footer Placeholder 4">
            <a:extLst>
              <a:ext uri="{FF2B5EF4-FFF2-40B4-BE49-F238E27FC236}">
                <a16:creationId xmlns:a16="http://schemas.microsoft.com/office/drawing/2014/main" id="{8F40E265-9A9B-9F95-C7F9-BC2BDA6572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C04F28-CB97-81F6-5EC1-C951D05D0CAB}"/>
              </a:ext>
            </a:extLst>
          </p:cNvPr>
          <p:cNvSpPr>
            <a:spLocks noGrp="1"/>
          </p:cNvSpPr>
          <p:nvPr>
            <p:ph type="sldNum" sz="quarter" idx="12"/>
          </p:nvPr>
        </p:nvSpPr>
        <p:spPr/>
        <p:txBody>
          <a:bodyPr/>
          <a:lstStyle/>
          <a:p>
            <a:fld id="{5E42E1AA-6D1D-4049-AFF0-FCE91AC52540}" type="slidenum">
              <a:rPr lang="en-US" smtClean="0"/>
              <a:t>‹#›</a:t>
            </a:fld>
            <a:endParaRPr lang="en-US"/>
          </a:p>
        </p:txBody>
      </p:sp>
    </p:spTree>
    <p:extLst>
      <p:ext uri="{BB962C8B-B14F-4D97-AF65-F5344CB8AC3E}">
        <p14:creationId xmlns:p14="http://schemas.microsoft.com/office/powerpoint/2010/main" val="275589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EEC62B-BC51-7A07-8D02-5FFEDF3430A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66A500F-CA40-3516-0A09-081A909315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DC5786E-0665-764A-6663-4BE1D24FC3C0}"/>
              </a:ext>
            </a:extLst>
          </p:cNvPr>
          <p:cNvSpPr>
            <a:spLocks noGrp="1"/>
          </p:cNvSpPr>
          <p:nvPr>
            <p:ph type="dt" sz="half" idx="10"/>
          </p:nvPr>
        </p:nvSpPr>
        <p:spPr/>
        <p:txBody>
          <a:bodyPr/>
          <a:lstStyle/>
          <a:p>
            <a:fld id="{BBF09B49-62FC-A94E-9331-DFCFC753349C}" type="datetimeFigureOut">
              <a:rPr lang="en-US" smtClean="0"/>
              <a:t>6/30/25</a:t>
            </a:fld>
            <a:endParaRPr lang="en-US"/>
          </a:p>
        </p:txBody>
      </p:sp>
      <p:sp>
        <p:nvSpPr>
          <p:cNvPr id="5" name="Footer Placeholder 4">
            <a:extLst>
              <a:ext uri="{FF2B5EF4-FFF2-40B4-BE49-F238E27FC236}">
                <a16:creationId xmlns:a16="http://schemas.microsoft.com/office/drawing/2014/main" id="{A7DCDF70-3DFA-AEA7-1F96-10094E3A95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312651-A678-9BE6-CBFE-80B437313A41}"/>
              </a:ext>
            </a:extLst>
          </p:cNvPr>
          <p:cNvSpPr>
            <a:spLocks noGrp="1"/>
          </p:cNvSpPr>
          <p:nvPr>
            <p:ph type="sldNum" sz="quarter" idx="12"/>
          </p:nvPr>
        </p:nvSpPr>
        <p:spPr/>
        <p:txBody>
          <a:bodyPr/>
          <a:lstStyle/>
          <a:p>
            <a:fld id="{5E42E1AA-6D1D-4049-AFF0-FCE91AC52540}" type="slidenum">
              <a:rPr lang="en-US" smtClean="0"/>
              <a:t>‹#›</a:t>
            </a:fld>
            <a:endParaRPr lang="en-US"/>
          </a:p>
        </p:txBody>
      </p:sp>
    </p:spTree>
    <p:extLst>
      <p:ext uri="{BB962C8B-B14F-4D97-AF65-F5344CB8AC3E}">
        <p14:creationId xmlns:p14="http://schemas.microsoft.com/office/powerpoint/2010/main" val="2274658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85A19-A7FA-85D7-31C9-B4D9005C08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18A0B18-F4DA-E487-A46F-072899C19C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AB4E89E-7468-F482-B8D0-A558D77153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F09B49-62FC-A94E-9331-DFCFC753349C}" type="datetimeFigureOut">
              <a:rPr lang="en-US" smtClean="0"/>
              <a:t>6/30/25</a:t>
            </a:fld>
            <a:endParaRPr lang="en-US"/>
          </a:p>
        </p:txBody>
      </p:sp>
      <p:sp>
        <p:nvSpPr>
          <p:cNvPr id="5" name="Footer Placeholder 4">
            <a:extLst>
              <a:ext uri="{FF2B5EF4-FFF2-40B4-BE49-F238E27FC236}">
                <a16:creationId xmlns:a16="http://schemas.microsoft.com/office/drawing/2014/main" id="{6072E633-8789-A4A2-173B-276A1EBD09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19F1ED7-733E-53D6-11D9-99656EC4AA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42E1AA-6D1D-4049-AFF0-FCE91AC52540}" type="slidenum">
              <a:rPr lang="en-US" smtClean="0"/>
              <a:t>‹#›</a:t>
            </a:fld>
            <a:endParaRPr lang="en-US"/>
          </a:p>
        </p:txBody>
      </p:sp>
    </p:spTree>
    <p:extLst>
      <p:ext uri="{BB962C8B-B14F-4D97-AF65-F5344CB8AC3E}">
        <p14:creationId xmlns:p14="http://schemas.microsoft.com/office/powerpoint/2010/main" val="1984332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7.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D85D-A674-C5E9-5B06-39FD4456F17F}"/>
              </a:ext>
            </a:extLst>
          </p:cNvPr>
          <p:cNvSpPr>
            <a:spLocks noGrp="1"/>
          </p:cNvSpPr>
          <p:nvPr>
            <p:ph type="ctrTitle"/>
          </p:nvPr>
        </p:nvSpPr>
        <p:spPr>
          <a:xfrm>
            <a:off x="445826" y="0"/>
            <a:ext cx="6241576" cy="2387600"/>
          </a:xfrm>
        </p:spPr>
        <p:txBody>
          <a:bodyPr>
            <a:normAutofit fontScale="90000"/>
          </a:bodyPr>
          <a:lstStyle/>
          <a:p>
            <a:pPr algn="l"/>
            <a:r>
              <a:rPr lang="en-GB" dirty="0"/>
              <a:t>Accelerate Research in the AI Age</a:t>
            </a:r>
            <a:endParaRPr lang="en-US" dirty="0"/>
          </a:p>
        </p:txBody>
      </p:sp>
      <p:sp>
        <p:nvSpPr>
          <p:cNvPr id="3" name="Subtitle 2">
            <a:extLst>
              <a:ext uri="{FF2B5EF4-FFF2-40B4-BE49-F238E27FC236}">
                <a16:creationId xmlns:a16="http://schemas.microsoft.com/office/drawing/2014/main" id="{44870B4C-A6EB-F1B1-2482-F59A5DE9DADE}"/>
              </a:ext>
            </a:extLst>
          </p:cNvPr>
          <p:cNvSpPr>
            <a:spLocks noGrp="1"/>
          </p:cNvSpPr>
          <p:nvPr>
            <p:ph type="subTitle" idx="1"/>
          </p:nvPr>
        </p:nvSpPr>
        <p:spPr>
          <a:xfrm>
            <a:off x="188793" y="3290592"/>
            <a:ext cx="6910316" cy="3412912"/>
          </a:xfrm>
        </p:spPr>
        <p:txBody>
          <a:bodyPr>
            <a:normAutofit/>
          </a:bodyPr>
          <a:lstStyle/>
          <a:p>
            <a:pPr algn="l"/>
            <a:r>
              <a:rPr lang="en-GB" b="1" dirty="0"/>
              <a:t>Save Time:</a:t>
            </a:r>
            <a:r>
              <a:rPr lang="en-GB" dirty="0"/>
              <a:t> In a survey, 80% users report saving </a:t>
            </a:r>
            <a:r>
              <a:rPr lang="en-GB" b="1" dirty="0"/>
              <a:t>10 or more hours every week</a:t>
            </a:r>
            <a:r>
              <a:rPr lang="en-GB" dirty="0"/>
              <a:t> using our intelligent automation</a:t>
            </a:r>
          </a:p>
          <a:p>
            <a:pPr algn="l"/>
            <a:endParaRPr lang="en-GB" dirty="0"/>
          </a:p>
          <a:p>
            <a:pPr algn="l"/>
            <a:r>
              <a:rPr lang="en-GB" b="1" dirty="0"/>
              <a:t>Cut Costs:</a:t>
            </a:r>
            <a:r>
              <a:rPr lang="en-GB" dirty="0"/>
              <a:t> Pilot studies show research teams reduce </a:t>
            </a:r>
            <a:r>
              <a:rPr lang="en-GB" b="1" dirty="0"/>
              <a:t>manual data extraction time and costs by over 50%</a:t>
            </a:r>
            <a:endParaRPr lang="en-GB" dirty="0"/>
          </a:p>
          <a:p>
            <a:pPr algn="l"/>
            <a:endParaRPr lang="en-US" dirty="0"/>
          </a:p>
        </p:txBody>
      </p:sp>
      <p:sp>
        <p:nvSpPr>
          <p:cNvPr id="8" name="TextBox 7">
            <a:extLst>
              <a:ext uri="{FF2B5EF4-FFF2-40B4-BE49-F238E27FC236}">
                <a16:creationId xmlns:a16="http://schemas.microsoft.com/office/drawing/2014/main" id="{EC203B8D-DC60-002F-970C-3CDE4D91EE29}"/>
              </a:ext>
            </a:extLst>
          </p:cNvPr>
          <p:cNvSpPr txBox="1"/>
          <p:nvPr/>
        </p:nvSpPr>
        <p:spPr>
          <a:xfrm>
            <a:off x="7510815" y="2319360"/>
            <a:ext cx="4235355" cy="1723549"/>
          </a:xfrm>
          <a:prstGeom prst="rect">
            <a:avLst/>
          </a:prstGeom>
          <a:noFill/>
        </p:spPr>
        <p:txBody>
          <a:bodyPr wrap="square" rtlCol="0">
            <a:spAutoFit/>
          </a:bodyPr>
          <a:lstStyle/>
          <a:p>
            <a:r>
              <a:rPr lang="en-US" sz="5000" dirty="0"/>
              <a:t>10 hours</a:t>
            </a:r>
          </a:p>
          <a:p>
            <a:r>
              <a:rPr lang="en-GB" sz="2800" dirty="0"/>
              <a:t>Research-Bot's users save up to 10 hours per week</a:t>
            </a:r>
            <a:endParaRPr lang="en-US" sz="2800" dirty="0"/>
          </a:p>
        </p:txBody>
      </p:sp>
      <p:sp>
        <p:nvSpPr>
          <p:cNvPr id="9" name="TextBox 8">
            <a:extLst>
              <a:ext uri="{FF2B5EF4-FFF2-40B4-BE49-F238E27FC236}">
                <a16:creationId xmlns:a16="http://schemas.microsoft.com/office/drawing/2014/main" id="{31177F2B-9123-18CA-7084-470252E9DB8E}"/>
              </a:ext>
            </a:extLst>
          </p:cNvPr>
          <p:cNvSpPr txBox="1"/>
          <p:nvPr/>
        </p:nvSpPr>
        <p:spPr>
          <a:xfrm>
            <a:off x="7510814" y="34733"/>
            <a:ext cx="4235355" cy="2154436"/>
          </a:xfrm>
          <a:prstGeom prst="rect">
            <a:avLst/>
          </a:prstGeom>
          <a:noFill/>
        </p:spPr>
        <p:txBody>
          <a:bodyPr wrap="square" rtlCol="0">
            <a:spAutoFit/>
          </a:bodyPr>
          <a:lstStyle/>
          <a:p>
            <a:r>
              <a:rPr lang="en-US" sz="5000" dirty="0"/>
              <a:t>125</a:t>
            </a:r>
          </a:p>
          <a:p>
            <a:r>
              <a:rPr lang="en-GB" sz="2800" dirty="0"/>
              <a:t>Instantly query </a:t>
            </a:r>
            <a:r>
              <a:rPr lang="en-GB" sz="2800" b="1" dirty="0"/>
              <a:t>125+ million academic papers</a:t>
            </a:r>
            <a:r>
              <a:rPr lang="en-GB" sz="2800" dirty="0"/>
              <a:t> using LLM</a:t>
            </a:r>
            <a:endParaRPr lang="en-US" sz="2800" dirty="0"/>
          </a:p>
        </p:txBody>
      </p:sp>
      <p:sp>
        <p:nvSpPr>
          <p:cNvPr id="10" name="TextBox 9">
            <a:extLst>
              <a:ext uri="{FF2B5EF4-FFF2-40B4-BE49-F238E27FC236}">
                <a16:creationId xmlns:a16="http://schemas.microsoft.com/office/drawing/2014/main" id="{D8D12B44-927F-DE5C-1402-D77FFC90BFA6}"/>
              </a:ext>
            </a:extLst>
          </p:cNvPr>
          <p:cNvSpPr txBox="1"/>
          <p:nvPr/>
        </p:nvSpPr>
        <p:spPr>
          <a:xfrm>
            <a:off x="7510816" y="4275995"/>
            <a:ext cx="4681184" cy="2585323"/>
          </a:xfrm>
          <a:prstGeom prst="rect">
            <a:avLst/>
          </a:prstGeom>
          <a:noFill/>
        </p:spPr>
        <p:txBody>
          <a:bodyPr wrap="square" rtlCol="0">
            <a:spAutoFit/>
          </a:bodyPr>
          <a:lstStyle/>
          <a:p>
            <a:r>
              <a:rPr lang="en-US" sz="5000" dirty="0"/>
              <a:t>50</a:t>
            </a:r>
          </a:p>
          <a:p>
            <a:r>
              <a:rPr lang="en-GB" sz="2800" dirty="0"/>
              <a:t>Extract insights from papers in </a:t>
            </a:r>
            <a:r>
              <a:rPr lang="en-GB" sz="2800" b="1" dirty="0"/>
              <a:t>half the time and cost</a:t>
            </a:r>
            <a:r>
              <a:rPr lang="en-GB" sz="2800" dirty="0"/>
              <a:t> compared to manual methods</a:t>
            </a:r>
            <a:endParaRPr lang="en-US" sz="2800" dirty="0"/>
          </a:p>
        </p:txBody>
      </p:sp>
    </p:spTree>
    <p:extLst>
      <p:ext uri="{BB962C8B-B14F-4D97-AF65-F5344CB8AC3E}">
        <p14:creationId xmlns:p14="http://schemas.microsoft.com/office/powerpoint/2010/main" val="3231682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42748E6-6B20-A2C6-11A0-F754AEC1E7A4}"/>
              </a:ext>
            </a:extLst>
          </p:cNvPr>
          <p:cNvSpPr txBox="1"/>
          <p:nvPr/>
        </p:nvSpPr>
        <p:spPr>
          <a:xfrm>
            <a:off x="7633647" y="0"/>
            <a:ext cx="4235355" cy="1723549"/>
          </a:xfrm>
          <a:prstGeom prst="rect">
            <a:avLst/>
          </a:prstGeom>
          <a:noFill/>
        </p:spPr>
        <p:txBody>
          <a:bodyPr wrap="square" rtlCol="0">
            <a:spAutoFit/>
          </a:bodyPr>
          <a:lstStyle/>
          <a:p>
            <a:r>
              <a:rPr lang="en-US" sz="5000" dirty="0"/>
              <a:t>5 hours</a:t>
            </a:r>
          </a:p>
          <a:p>
            <a:r>
              <a:rPr lang="en-GB" sz="2800" dirty="0"/>
              <a:t>Research-Bot's users save up to 5 hours per week</a:t>
            </a:r>
            <a:endParaRPr lang="en-US" sz="2800" dirty="0"/>
          </a:p>
        </p:txBody>
      </p:sp>
      <p:sp>
        <p:nvSpPr>
          <p:cNvPr id="8" name="TextBox 7">
            <a:extLst>
              <a:ext uri="{FF2B5EF4-FFF2-40B4-BE49-F238E27FC236}">
                <a16:creationId xmlns:a16="http://schemas.microsoft.com/office/drawing/2014/main" id="{E133C140-68B2-CC8B-B492-ED6FB47E5194}"/>
              </a:ext>
            </a:extLst>
          </p:cNvPr>
          <p:cNvSpPr txBox="1"/>
          <p:nvPr/>
        </p:nvSpPr>
        <p:spPr>
          <a:xfrm>
            <a:off x="7633646" y="1999699"/>
            <a:ext cx="4235355" cy="2154436"/>
          </a:xfrm>
          <a:prstGeom prst="rect">
            <a:avLst/>
          </a:prstGeom>
          <a:noFill/>
        </p:spPr>
        <p:txBody>
          <a:bodyPr wrap="square" rtlCol="0">
            <a:spAutoFit/>
          </a:bodyPr>
          <a:lstStyle/>
          <a:p>
            <a:r>
              <a:rPr lang="en-US" sz="5000" dirty="0"/>
              <a:t>125</a:t>
            </a:r>
          </a:p>
          <a:p>
            <a:r>
              <a:rPr lang="en-GB" sz="2800" dirty="0"/>
              <a:t>Instantly query </a:t>
            </a:r>
            <a:r>
              <a:rPr lang="en-GB" sz="2800" b="1" dirty="0"/>
              <a:t>125+ million academic papers</a:t>
            </a:r>
            <a:r>
              <a:rPr lang="en-GB" sz="2800" dirty="0"/>
              <a:t> using LLM</a:t>
            </a:r>
            <a:endParaRPr lang="en-US" sz="2800" dirty="0"/>
          </a:p>
        </p:txBody>
      </p:sp>
      <p:sp>
        <p:nvSpPr>
          <p:cNvPr id="9" name="TextBox 8">
            <a:extLst>
              <a:ext uri="{FF2B5EF4-FFF2-40B4-BE49-F238E27FC236}">
                <a16:creationId xmlns:a16="http://schemas.microsoft.com/office/drawing/2014/main" id="{6F3D828B-EACC-AC42-01BF-1E953AD41655}"/>
              </a:ext>
            </a:extLst>
          </p:cNvPr>
          <p:cNvSpPr txBox="1"/>
          <p:nvPr/>
        </p:nvSpPr>
        <p:spPr>
          <a:xfrm>
            <a:off x="7633646" y="4185152"/>
            <a:ext cx="4681184" cy="2585323"/>
          </a:xfrm>
          <a:prstGeom prst="rect">
            <a:avLst/>
          </a:prstGeom>
          <a:noFill/>
        </p:spPr>
        <p:txBody>
          <a:bodyPr wrap="square" rtlCol="0">
            <a:spAutoFit/>
          </a:bodyPr>
          <a:lstStyle/>
          <a:p>
            <a:r>
              <a:rPr lang="en-US" sz="5000" dirty="0"/>
              <a:t>50</a:t>
            </a:r>
          </a:p>
          <a:p>
            <a:r>
              <a:rPr lang="en-GB" sz="2800" dirty="0"/>
              <a:t>Extract insights from papers in </a:t>
            </a:r>
            <a:r>
              <a:rPr lang="en-GB" sz="2800" b="1" dirty="0"/>
              <a:t>half the time and cost</a:t>
            </a:r>
            <a:r>
              <a:rPr lang="en-GB" sz="2800" dirty="0"/>
              <a:t> compared to manual methods</a:t>
            </a:r>
            <a:endParaRPr lang="en-US" sz="2800" dirty="0"/>
          </a:p>
        </p:txBody>
      </p:sp>
      <p:pic>
        <p:nvPicPr>
          <p:cNvPr id="10" name="Picture 9" descr="A logo for a company&#10;&#10;Description automatically generated">
            <a:extLst>
              <a:ext uri="{FF2B5EF4-FFF2-40B4-BE49-F238E27FC236}">
                <a16:creationId xmlns:a16="http://schemas.microsoft.com/office/drawing/2014/main" id="{5C021105-9316-EC32-BC62-73F7BF6C4FB2}"/>
              </a:ext>
            </a:extLst>
          </p:cNvPr>
          <p:cNvPicPr>
            <a:picLocks noChangeAspect="1"/>
          </p:cNvPicPr>
          <p:nvPr/>
        </p:nvPicPr>
        <p:blipFill>
          <a:blip r:embed="rId2"/>
          <a:stretch>
            <a:fillRect/>
          </a:stretch>
        </p:blipFill>
        <p:spPr>
          <a:xfrm>
            <a:off x="3749144" y="0"/>
            <a:ext cx="2517632" cy="2517632"/>
          </a:xfrm>
          <a:prstGeom prst="rect">
            <a:avLst/>
          </a:prstGeom>
        </p:spPr>
      </p:pic>
    </p:spTree>
    <p:extLst>
      <p:ext uri="{BB962C8B-B14F-4D97-AF65-F5344CB8AC3E}">
        <p14:creationId xmlns:p14="http://schemas.microsoft.com/office/powerpoint/2010/main" val="3547226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6CE17-9CE5-B63D-4C70-2D53EF34F0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B591B9-3059-85A5-ACEA-8504C36ABBAD}"/>
              </a:ext>
            </a:extLst>
          </p:cNvPr>
          <p:cNvSpPr>
            <a:spLocks noGrp="1"/>
          </p:cNvSpPr>
          <p:nvPr>
            <p:ph idx="1"/>
          </p:nvPr>
        </p:nvSpPr>
        <p:spPr/>
        <p:txBody>
          <a:bodyPr/>
          <a:lstStyle/>
          <a:p>
            <a:endParaRPr lang="en-US" dirty="0"/>
          </a:p>
        </p:txBody>
      </p:sp>
      <p:pic>
        <p:nvPicPr>
          <p:cNvPr id="4" name="Picture 3" descr="A logo for a company&#10;&#10;Description automatically generated">
            <a:extLst>
              <a:ext uri="{FF2B5EF4-FFF2-40B4-BE49-F238E27FC236}">
                <a16:creationId xmlns:a16="http://schemas.microsoft.com/office/drawing/2014/main" id="{A7027F70-DCE1-BA17-2B05-9E43C1E29639}"/>
              </a:ext>
            </a:extLst>
          </p:cNvPr>
          <p:cNvPicPr>
            <a:picLocks noChangeAspect="1"/>
          </p:cNvPicPr>
          <p:nvPr/>
        </p:nvPicPr>
        <p:blipFill>
          <a:blip r:embed="rId2"/>
          <a:stretch>
            <a:fillRect/>
          </a:stretch>
        </p:blipFill>
        <p:spPr>
          <a:xfrm>
            <a:off x="5096681" y="539874"/>
            <a:ext cx="2517632" cy="2517632"/>
          </a:xfrm>
          <a:prstGeom prst="rect">
            <a:avLst/>
          </a:prstGeom>
        </p:spPr>
      </p:pic>
      <p:sp>
        <p:nvSpPr>
          <p:cNvPr id="5" name="Title 1">
            <a:extLst>
              <a:ext uri="{FF2B5EF4-FFF2-40B4-BE49-F238E27FC236}">
                <a16:creationId xmlns:a16="http://schemas.microsoft.com/office/drawing/2014/main" id="{10C861CE-9E5B-3D60-35A5-0733AED465FB}"/>
              </a:ext>
            </a:extLst>
          </p:cNvPr>
          <p:cNvSpPr txBox="1">
            <a:spLocks/>
          </p:cNvSpPr>
          <p:nvPr/>
        </p:nvSpPr>
        <p:spPr>
          <a:xfrm>
            <a:off x="445826" y="0"/>
            <a:ext cx="6241576"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Accelerate Research in the AI Age</a:t>
            </a:r>
            <a:endParaRPr lang="en-US" dirty="0"/>
          </a:p>
        </p:txBody>
      </p:sp>
      <p:sp>
        <p:nvSpPr>
          <p:cNvPr id="6" name="Subtitle 2">
            <a:extLst>
              <a:ext uri="{FF2B5EF4-FFF2-40B4-BE49-F238E27FC236}">
                <a16:creationId xmlns:a16="http://schemas.microsoft.com/office/drawing/2014/main" id="{C916DBC8-2F14-28C0-7C52-CAAA7208874A}"/>
              </a:ext>
            </a:extLst>
          </p:cNvPr>
          <p:cNvSpPr txBox="1">
            <a:spLocks/>
          </p:cNvSpPr>
          <p:nvPr/>
        </p:nvSpPr>
        <p:spPr>
          <a:xfrm>
            <a:off x="188792" y="3290592"/>
            <a:ext cx="10179323" cy="341291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Save Time:</a:t>
            </a:r>
            <a:r>
              <a:rPr lang="en-GB" dirty="0"/>
              <a:t> In a survey, 80% users report saving </a:t>
            </a:r>
            <a:r>
              <a:rPr lang="en-GB" b="1" dirty="0"/>
              <a:t>10 or more hours every week</a:t>
            </a:r>
            <a:r>
              <a:rPr lang="en-GB" dirty="0"/>
              <a:t> using our intelligent automation</a:t>
            </a:r>
          </a:p>
          <a:p>
            <a:endParaRPr lang="en-GB" dirty="0"/>
          </a:p>
          <a:p>
            <a:r>
              <a:rPr lang="en-GB" b="1" dirty="0"/>
              <a:t>Cut Costs:</a:t>
            </a:r>
            <a:r>
              <a:rPr lang="en-GB" dirty="0"/>
              <a:t> Pilot studies show research teams reduce </a:t>
            </a:r>
            <a:r>
              <a:rPr lang="en-GB" b="1" dirty="0"/>
              <a:t>manual data extraction time and costs by over 50%</a:t>
            </a:r>
          </a:p>
          <a:p>
            <a:r>
              <a:rPr lang="en-US" sz="5000" dirty="0"/>
              <a:t>125</a:t>
            </a:r>
          </a:p>
          <a:p>
            <a:r>
              <a:rPr lang="en-GB" sz="2800" dirty="0"/>
              <a:t>Instantly query </a:t>
            </a:r>
            <a:r>
              <a:rPr lang="en-GB" sz="2800" b="1" dirty="0"/>
              <a:t>125+ million academic papers</a:t>
            </a:r>
            <a:r>
              <a:rPr lang="en-GB" sz="2800" dirty="0"/>
              <a:t> using LLM</a:t>
            </a:r>
            <a:endParaRPr lang="en-US" sz="2800" dirty="0"/>
          </a:p>
          <a:p>
            <a:endParaRPr lang="en-GB" dirty="0"/>
          </a:p>
          <a:p>
            <a:endParaRPr lang="en-US" dirty="0"/>
          </a:p>
        </p:txBody>
      </p:sp>
    </p:spTree>
    <p:extLst>
      <p:ext uri="{BB962C8B-B14F-4D97-AF65-F5344CB8AC3E}">
        <p14:creationId xmlns:p14="http://schemas.microsoft.com/office/powerpoint/2010/main" val="4129675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 name="Rectangle 55">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50630573-21B1-1866-DFAC-1C22A53C966E}"/>
              </a:ext>
            </a:extLst>
          </p:cNvPr>
          <p:cNvPicPr>
            <a:picLocks noChangeAspect="1"/>
          </p:cNvPicPr>
          <p:nvPr/>
        </p:nvPicPr>
        <p:blipFill>
          <a:blip r:embed="rId3">
            <a:alphaModFix amt="35000"/>
          </a:blip>
          <a:srcRect/>
          <a:stretch>
            <a:fillRect/>
          </a:stretch>
        </p:blipFill>
        <p:spPr>
          <a:xfrm>
            <a:off x="20" y="10"/>
            <a:ext cx="12191980" cy="6857990"/>
          </a:xfrm>
          <a:prstGeom prst="rect">
            <a:avLst/>
          </a:prstGeom>
        </p:spPr>
      </p:pic>
      <p:sp>
        <p:nvSpPr>
          <p:cNvPr id="18" name="Title 17">
            <a:extLst>
              <a:ext uri="{FF2B5EF4-FFF2-40B4-BE49-F238E27FC236}">
                <a16:creationId xmlns:a16="http://schemas.microsoft.com/office/drawing/2014/main" id="{ECFB38FB-5A32-C1D7-75EF-E20EF0EF5388}"/>
              </a:ext>
            </a:extLst>
          </p:cNvPr>
          <p:cNvSpPr>
            <a:spLocks noGrp="1"/>
          </p:cNvSpPr>
          <p:nvPr>
            <p:ph type="title"/>
          </p:nvPr>
        </p:nvSpPr>
        <p:spPr>
          <a:xfrm>
            <a:off x="838200" y="365125"/>
            <a:ext cx="10515600" cy="1325563"/>
          </a:xfrm>
        </p:spPr>
        <p:txBody>
          <a:bodyPr vert="horz" lIns="91440" tIns="45720" rIns="91440" bIns="45720" rtlCol="0">
            <a:normAutofit/>
          </a:bodyPr>
          <a:lstStyle/>
          <a:p>
            <a:r>
              <a:rPr lang="en-US">
                <a:solidFill>
                  <a:srgbClr val="FFFFFF"/>
                </a:solidFill>
              </a:rPr>
              <a:t>Accelerate Research in the AI Age</a:t>
            </a:r>
          </a:p>
        </p:txBody>
      </p:sp>
      <p:graphicFrame>
        <p:nvGraphicFramePr>
          <p:cNvPr id="39" name="Content Placeholder 21">
            <a:extLst>
              <a:ext uri="{FF2B5EF4-FFF2-40B4-BE49-F238E27FC236}">
                <a16:creationId xmlns:a16="http://schemas.microsoft.com/office/drawing/2014/main" id="{53E12B72-8EFC-012F-D6E4-CDBBC8F43638}"/>
              </a:ext>
            </a:extLst>
          </p:cNvPr>
          <p:cNvGraphicFramePr>
            <a:graphicFrameLocks noGrp="1"/>
          </p:cNvGraphicFramePr>
          <p:nvPr>
            <p:ph idx="1"/>
            <p:extLst>
              <p:ext uri="{D42A27DB-BD31-4B8C-83A1-F6EECF244321}">
                <p14:modId xmlns:p14="http://schemas.microsoft.com/office/powerpoint/2010/main" val="133544070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4184053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5C92C-3D62-6BCA-2C64-ECDA86FE6A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6526A9-5B10-7182-2AF3-B8EDA19DB38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10250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D606FD27-D27F-26EB-8AB2-E5A713B5C2CC}"/>
              </a:ext>
            </a:extLst>
          </p:cNvPr>
          <p:cNvPicPr>
            <a:picLocks noChangeAspect="1"/>
          </p:cNvPicPr>
          <p:nvPr/>
        </p:nvPicPr>
        <p:blipFill>
          <a:blip r:embed="rId3"/>
          <a:srcRect l="30954" r="28200" b="-1"/>
          <a:stretch>
            <a:fillRect/>
          </a:stretch>
        </p:blipFill>
        <p:spPr>
          <a:xfrm>
            <a:off x="1" y="10"/>
            <a:ext cx="4196496" cy="6857990"/>
          </a:xfrm>
          <a:prstGeom prst="rect">
            <a:avLst/>
          </a:prstGeom>
          <a:effectLst/>
        </p:spPr>
      </p:pic>
      <p:sp>
        <p:nvSpPr>
          <p:cNvPr id="33" name="Title 9">
            <a:extLst>
              <a:ext uri="{FF2B5EF4-FFF2-40B4-BE49-F238E27FC236}">
                <a16:creationId xmlns:a16="http://schemas.microsoft.com/office/drawing/2014/main" id="{34EC61E0-CAA0-9115-D15A-08685A9BF552}"/>
              </a:ext>
            </a:extLst>
          </p:cNvPr>
          <p:cNvSpPr txBox="1">
            <a:spLocks/>
          </p:cNvSpPr>
          <p:nvPr/>
        </p:nvSpPr>
        <p:spPr>
          <a:xfrm>
            <a:off x="4553733" y="548464"/>
            <a:ext cx="6798541" cy="167562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4000"/>
              <a:t>Accelerate Research in the AI Age</a:t>
            </a:r>
            <a:endParaRPr lang="en-US" sz="4000" dirty="0"/>
          </a:p>
        </p:txBody>
      </p:sp>
      <p:sp>
        <p:nvSpPr>
          <p:cNvPr id="34" name="Subtitle 2">
            <a:extLst>
              <a:ext uri="{FF2B5EF4-FFF2-40B4-BE49-F238E27FC236}">
                <a16:creationId xmlns:a16="http://schemas.microsoft.com/office/drawing/2014/main" id="{F9A211E1-4FA8-178B-C4A6-03A66AC9BEDB}"/>
              </a:ext>
            </a:extLst>
          </p:cNvPr>
          <p:cNvSpPr txBox="1">
            <a:spLocks/>
          </p:cNvSpPr>
          <p:nvPr/>
        </p:nvSpPr>
        <p:spPr>
          <a:xfrm>
            <a:off x="4737566" y="3128360"/>
            <a:ext cx="6910316" cy="3412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Save Time:</a:t>
            </a:r>
            <a:r>
              <a:rPr lang="en-GB" dirty="0"/>
              <a:t> In a survey, 80% users report saving </a:t>
            </a:r>
            <a:r>
              <a:rPr lang="en-GB" b="1" dirty="0"/>
              <a:t>10 or more hours every week</a:t>
            </a:r>
            <a:r>
              <a:rPr lang="en-GB" dirty="0"/>
              <a:t> using our intelligent automation</a:t>
            </a:r>
          </a:p>
          <a:p>
            <a:endParaRPr lang="en-GB" dirty="0"/>
          </a:p>
          <a:p>
            <a:r>
              <a:rPr lang="en-GB" b="1" dirty="0"/>
              <a:t>Cut Costs:</a:t>
            </a:r>
            <a:r>
              <a:rPr lang="en-GB" dirty="0"/>
              <a:t> Pilot studies show research teams reduce </a:t>
            </a:r>
            <a:r>
              <a:rPr lang="en-GB" b="1" dirty="0"/>
              <a:t>manual data extraction time and costs by over 50%</a:t>
            </a:r>
            <a:endParaRPr lang="en-GB" dirty="0"/>
          </a:p>
          <a:p>
            <a:endParaRPr lang="en-US" dirty="0"/>
          </a:p>
        </p:txBody>
      </p:sp>
    </p:spTree>
    <p:extLst>
      <p:ext uri="{BB962C8B-B14F-4D97-AF65-F5344CB8AC3E}">
        <p14:creationId xmlns:p14="http://schemas.microsoft.com/office/powerpoint/2010/main" val="1164799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606FD27-D27F-26EB-8AB2-E5A713B5C2CC}"/>
              </a:ext>
            </a:extLst>
          </p:cNvPr>
          <p:cNvPicPr>
            <a:picLocks noChangeAspect="1"/>
          </p:cNvPicPr>
          <p:nvPr/>
        </p:nvPicPr>
        <p:blipFill>
          <a:blip r:embed="rId3"/>
          <a:srcRect l="30954" r="28200" b="-1"/>
          <a:stretch>
            <a:fillRect/>
          </a:stretch>
        </p:blipFill>
        <p:spPr>
          <a:xfrm>
            <a:off x="0" y="10"/>
            <a:ext cx="12191999" cy="6857990"/>
          </a:xfrm>
          <a:prstGeom prst="rect">
            <a:avLst/>
          </a:prstGeom>
          <a:effectLst/>
        </p:spPr>
      </p:pic>
      <p:graphicFrame>
        <p:nvGraphicFramePr>
          <p:cNvPr id="21" name="Subtitle 2">
            <a:extLst>
              <a:ext uri="{FF2B5EF4-FFF2-40B4-BE49-F238E27FC236}">
                <a16:creationId xmlns:a16="http://schemas.microsoft.com/office/drawing/2014/main" id="{8B1A241F-5D27-03D0-EF68-E312A241513B}"/>
              </a:ext>
            </a:extLst>
          </p:cNvPr>
          <p:cNvGraphicFramePr/>
          <p:nvPr>
            <p:extLst>
              <p:ext uri="{D42A27DB-BD31-4B8C-83A1-F6EECF244321}">
                <p14:modId xmlns:p14="http://schemas.microsoft.com/office/powerpoint/2010/main" val="2021460048"/>
              </p:ext>
            </p:extLst>
          </p:nvPr>
        </p:nvGraphicFramePr>
        <p:xfrm>
          <a:off x="360104" y="1523856"/>
          <a:ext cx="8768129" cy="370521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Title 9">
            <a:extLst>
              <a:ext uri="{FF2B5EF4-FFF2-40B4-BE49-F238E27FC236}">
                <a16:creationId xmlns:a16="http://schemas.microsoft.com/office/drawing/2014/main" id="{AA91A659-5B3D-DC8E-3489-5F30C366B969}"/>
              </a:ext>
            </a:extLst>
          </p:cNvPr>
          <p:cNvSpPr>
            <a:spLocks noGrp="1"/>
          </p:cNvSpPr>
          <p:nvPr>
            <p:ph type="title"/>
          </p:nvPr>
        </p:nvSpPr>
        <p:spPr>
          <a:xfrm>
            <a:off x="360105" y="485402"/>
            <a:ext cx="8878488" cy="1675623"/>
          </a:xfrm>
        </p:spPr>
        <p:txBody>
          <a:bodyPr vert="horz" lIns="91440" tIns="45720" rIns="91440" bIns="45720" rtlCol="0" anchor="b">
            <a:normAutofit/>
          </a:bodyPr>
          <a:lstStyle/>
          <a:p>
            <a:pPr>
              <a:spcAft>
                <a:spcPts val="600"/>
              </a:spcAft>
            </a:pPr>
            <a:r>
              <a:rPr lang="en-US" sz="4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Accelerate Research in the AI Age</a:t>
            </a:r>
            <a:br>
              <a:rPr lang="en-US" sz="4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br>
            <a:endParaRPr lang="en-US" sz="40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802919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1182</TotalTime>
  <Words>756</Words>
  <Application>Microsoft Macintosh PowerPoint</Application>
  <PresentationFormat>Widescreen</PresentationFormat>
  <Paragraphs>48</Paragraphs>
  <Slides>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Helvetica Neue</vt:lpstr>
      <vt:lpstr>Office Theme</vt:lpstr>
      <vt:lpstr>Accelerate Research in the AI Age</vt:lpstr>
      <vt:lpstr>PowerPoint Presentation</vt:lpstr>
      <vt:lpstr>PowerPoint Presentation</vt:lpstr>
      <vt:lpstr>Accelerate Research in the AI Age</vt:lpstr>
      <vt:lpstr>PowerPoint Presentation</vt:lpstr>
      <vt:lpstr>PowerPoint Presentation</vt:lpstr>
      <vt:lpstr>Accelerate Research in the AI Age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Accelerate Research in the AI Age</dc:title>
  <dc:creator>Su Ee Tan</dc:creator>
  <cp:lastModifiedBy>Su Ee Tan</cp:lastModifiedBy>
  <cp:revision>4</cp:revision>
  <dcterms:created xsi:type="dcterms:W3CDTF">2025-06-30T16:45:25Z</dcterms:created>
  <dcterms:modified xsi:type="dcterms:W3CDTF">2025-07-01T12:28:32Z</dcterms:modified>
</cp:coreProperties>
</file>